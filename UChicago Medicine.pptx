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y="5143500" cx="9144000"/>
  <p:notesSz cx="6858000" cy="9144000"/>
  <p:embeddedFontLst>
    <p:embeddedFont>
      <p:font typeface="Public Sans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font" Target="fonts/PublicSans-regular.fntdata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PublicSans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PublicSans-boldItalic.fntdata"/><Relationship Id="rId30" Type="http://schemas.openxmlformats.org/officeDocument/2006/relationships/font" Target="fonts/PublicSans-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0d398d20e9_2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g30d398d20e9_2_7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037f10a84e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Mitchell</a:t>
            </a:r>
            <a:endParaRPr/>
          </a:p>
        </p:txBody>
      </p:sp>
      <p:sp>
        <p:nvSpPr>
          <p:cNvPr id="141" name="Google Shape;141;g3037f10a84e_0_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0d398d20e9_2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Mitchell</a:t>
            </a:r>
            <a:endParaRPr/>
          </a:p>
        </p:txBody>
      </p:sp>
      <p:sp>
        <p:nvSpPr>
          <p:cNvPr id="149" name="Google Shape;149;g30d398d20e9_2_8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1bc917f58d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1bc917f58d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15666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Mitchell</a:t>
            </a:r>
            <a:endParaRPr b="1" sz="1200">
              <a:solidFill>
                <a:srgbClr val="15666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0d398d20e9_2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Georgia Bakopoulos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This use case addresses outreach to patients ahead of scheduled appointments.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It’s classified as high-priority due to the negative impact of no-shows on hospital efficiency.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The actors are of course the  Patient and the Hospital Staff/System.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use case outlines procedures for contacting patients before scheduled appointments to confirm attendance, as well as the MyChart cancellation process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The process’s trigger is temporal because an appointment scheduled within the next seven days will automatically undergo this process as long as it meets the preconditions.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These include the patient appointment being in the hospital’s scheduling system, as well as the patient’s contact details.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The normal course is as follows: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">
                <a:solidFill>
                  <a:schemeClr val="dk1"/>
                </a:solidFill>
              </a:rPr>
              <a:t> </a:t>
            </a:r>
            <a:r>
              <a:rPr b="1" lang="en">
                <a:solidFill>
                  <a:schemeClr val="dk1"/>
                </a:solidFill>
              </a:rPr>
              <a:t>System Check</a:t>
            </a:r>
            <a:r>
              <a:rPr lang="en">
                <a:solidFill>
                  <a:schemeClr val="dk1"/>
                </a:solidFill>
              </a:rPr>
              <a:t>: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An automated check identifies all appointments scheduled within the next seven days.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Retrieve Contact Information</a:t>
            </a:r>
            <a:r>
              <a:rPr lang="en">
                <a:solidFill>
                  <a:schemeClr val="dk1"/>
                </a:solidFill>
              </a:rPr>
              <a:t>: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The system or staff retrieves the patient’s contact information from the scheduling system.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Send Reminder Notification</a:t>
            </a:r>
            <a:r>
              <a:rPr lang="en">
                <a:solidFill>
                  <a:schemeClr val="dk1"/>
                </a:solidFill>
              </a:rPr>
              <a:t>: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A reminder is sent to the patient via email, SMS, or automated phone call. 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Confirmation Options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reminders sent via MyChart or text often include options to confirm, reschedule, or cancel the appointment with just a few clicks. 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4.a. If patient chooses to cancel, they are asked to provide a reason for cancellation, however, this step is voluntary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5. Second Reminder (No Response)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If no response, follow-up reminders are automatically sent, usually a day or two before the appointment date. Appointment is not cancelled, even if no response is given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t/>
            </a:r>
            <a:endParaRPr/>
          </a:p>
        </p:txBody>
      </p:sp>
      <p:sp>
        <p:nvSpPr>
          <p:cNvPr id="166" name="Google Shape;166;g30d398d20e9_2_1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17d3b631d6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17d3b631d6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15666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Georgia.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200">
              <a:solidFill>
                <a:srgbClr val="15666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1bc917f58d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Mitchell</a:t>
            </a:r>
            <a:endParaRPr/>
          </a:p>
        </p:txBody>
      </p:sp>
      <p:sp>
        <p:nvSpPr>
          <p:cNvPr id="183" name="Google Shape;183;g31bc917f58d_0_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17d3b631d6_2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Katherine. *Despite staff enquiring about reasons behind missed appointments, a response is not required.</a:t>
            </a:r>
            <a:endParaRPr/>
          </a:p>
        </p:txBody>
      </p:sp>
      <p:sp>
        <p:nvSpPr>
          <p:cNvPr id="196" name="Google Shape;196;g317d3b631d6_2_3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17d3b631d6_2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Katherine. Our solution is to create and distribute a survey asking patients their reasons for cancellation and no-shows.</a:t>
            </a:r>
            <a:endParaRPr/>
          </a:p>
        </p:txBody>
      </p:sp>
      <p:sp>
        <p:nvSpPr>
          <p:cNvPr id="205" name="Google Shape;205;g317d3b631d6_2_1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17d3b631d6_6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Katherine</a:t>
            </a:r>
            <a:endParaRPr/>
          </a:p>
        </p:txBody>
      </p:sp>
      <p:sp>
        <p:nvSpPr>
          <p:cNvPr id="214" name="Google Shape;214;g317d3b631d6_6_2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1b39ab2be6_1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Katherine</a:t>
            </a:r>
            <a:endParaRPr/>
          </a:p>
        </p:txBody>
      </p:sp>
      <p:sp>
        <p:nvSpPr>
          <p:cNvPr id="225" name="Google Shape;225;g31b39ab2be6_1_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1b39ab2be6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Katherine</a:t>
            </a:r>
            <a:endParaRPr/>
          </a:p>
        </p:txBody>
      </p:sp>
      <p:sp>
        <p:nvSpPr>
          <p:cNvPr id="231" name="Google Shape;231;g31b39ab2be6_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17d3b631d6_2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Alexandra. Use case relates to attendance raffle. Patient history is used to determine raffle eligibility.</a:t>
            </a:r>
            <a:endParaRPr/>
          </a:p>
        </p:txBody>
      </p:sp>
      <p:sp>
        <p:nvSpPr>
          <p:cNvPr id="237" name="Google Shape;237;g317d3b631d6_2_5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0d398d20e9_2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Alexandra</a:t>
            </a:r>
            <a:endParaRPr/>
          </a:p>
        </p:txBody>
      </p:sp>
      <p:sp>
        <p:nvSpPr>
          <p:cNvPr id="246" name="Google Shape;246;g30d398d20e9_2_9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1c2086acd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Alexandra</a:t>
            </a:r>
            <a:endParaRPr/>
          </a:p>
        </p:txBody>
      </p:sp>
      <p:sp>
        <p:nvSpPr>
          <p:cNvPr id="261" name="Google Shape;261;g31c2086acd4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17d3b631d6_6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Patryk</a:t>
            </a:r>
            <a:endParaRPr/>
          </a:p>
        </p:txBody>
      </p:sp>
      <p:sp>
        <p:nvSpPr>
          <p:cNvPr id="266" name="Google Shape;266;g317d3b631d6_6_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1b0ab2fb7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Patryk</a:t>
            </a:r>
            <a:endParaRPr/>
          </a:p>
        </p:txBody>
      </p:sp>
      <p:sp>
        <p:nvSpPr>
          <p:cNvPr id="272" name="Google Shape;272;g31b0ab2fb7c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1913e3278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Patryk. </a:t>
            </a:r>
            <a:r>
              <a:rPr lang="en"/>
              <a:t>Functional requirements are what the new system must do to provide the needed value to the business</a:t>
            </a:r>
            <a:endParaRPr/>
          </a:p>
        </p:txBody>
      </p:sp>
      <p:sp>
        <p:nvSpPr>
          <p:cNvPr id="281" name="Google Shape;281;g31913e32782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0376e28e41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Bryce. Non functional requirements are the quality attributes, design, and implementation constraints which a system must have</a:t>
            </a:r>
            <a:endParaRPr/>
          </a:p>
        </p:txBody>
      </p:sp>
      <p:sp>
        <p:nvSpPr>
          <p:cNvPr id="304" name="Google Shape;304;g30376e28e41_0_1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318f8f3bafa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Bryce</a:t>
            </a:r>
            <a:endParaRPr/>
          </a:p>
        </p:txBody>
      </p:sp>
      <p:sp>
        <p:nvSpPr>
          <p:cNvPr id="333" name="Google Shape;333;g318f8f3bafa_0_2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0d398d20e9_2_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g30d398d20e9_2_16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ctrTitle"/>
          </p:nvPr>
        </p:nvSpPr>
        <p:spPr>
          <a:xfrm>
            <a:off x="342900" y="1065213"/>
            <a:ext cx="3886200" cy="73501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62" name="Google Shape;62;p15"/>
          <p:cNvSpPr txBox="1"/>
          <p:nvPr>
            <p:ph idx="1" type="subTitle"/>
          </p:nvPr>
        </p:nvSpPr>
        <p:spPr>
          <a:xfrm>
            <a:off x="685800" y="1943100"/>
            <a:ext cx="3200400" cy="8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lvl="0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3" name="Google Shape;63;p15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" type="body"/>
          </p:nvPr>
        </p:nvSpPr>
        <p:spPr>
          <a:xfrm>
            <a:off x="228600" y="800100"/>
            <a:ext cx="4114800" cy="2262982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8575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indent="-28575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indent="-28575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indent="-2857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indent="-2857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indent="-2857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indent="-2857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indent="-2857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indent="-2857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/>
          <p:nvPr>
            <p:ph type="title"/>
          </p:nvPr>
        </p:nvSpPr>
        <p:spPr>
          <a:xfrm>
            <a:off x="361156" y="2203450"/>
            <a:ext cx="3886200" cy="681038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 cap="none"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4" name="Google Shape;74;p17"/>
          <p:cNvSpPr txBox="1"/>
          <p:nvPr>
            <p:ph idx="1" type="body"/>
          </p:nvPr>
        </p:nvSpPr>
        <p:spPr>
          <a:xfrm>
            <a:off x="361156" y="1453357"/>
            <a:ext cx="3886200" cy="750094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 sz="1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800"/>
              <a:buNone/>
              <a:defRPr sz="8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5" name="Google Shape;75;p17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80" name="Google Shape;80;p18"/>
          <p:cNvSpPr txBox="1"/>
          <p:nvPr>
            <p:ph idx="1" type="body"/>
          </p:nvPr>
        </p:nvSpPr>
        <p:spPr>
          <a:xfrm>
            <a:off x="228600" y="800100"/>
            <a:ext cx="2019300" cy="2262982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048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2pPr>
            <a:lvl3pPr indent="-2921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3pPr>
            <a:lvl4pPr indent="-2857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/>
            </a:lvl4pPr>
            <a:lvl5pPr indent="-2857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/>
            </a:lvl5pPr>
            <a:lvl6pPr indent="-2857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6pPr>
            <a:lvl7pPr indent="-2857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7pPr>
            <a:lvl8pPr indent="-2857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8pPr>
            <a:lvl9pPr indent="-2857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9pPr>
          </a:lstStyle>
          <a:p/>
        </p:txBody>
      </p:sp>
      <p:sp>
        <p:nvSpPr>
          <p:cNvPr id="81" name="Google Shape;81;p18"/>
          <p:cNvSpPr txBox="1"/>
          <p:nvPr>
            <p:ph idx="2" type="body"/>
          </p:nvPr>
        </p:nvSpPr>
        <p:spPr>
          <a:xfrm>
            <a:off x="2324100" y="800100"/>
            <a:ext cx="2019300" cy="2262982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048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2pPr>
            <a:lvl3pPr indent="-2921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3pPr>
            <a:lvl4pPr indent="-2857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/>
            </a:lvl4pPr>
            <a:lvl5pPr indent="-2857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/>
            </a:lvl5pPr>
            <a:lvl6pPr indent="-2857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6pPr>
            <a:lvl7pPr indent="-2857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7pPr>
            <a:lvl8pPr indent="-2857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8pPr>
            <a:lvl9pPr indent="-2857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9pPr>
          </a:lstStyle>
          <a:p/>
        </p:txBody>
      </p:sp>
      <p:sp>
        <p:nvSpPr>
          <p:cNvPr id="82" name="Google Shape;82;p18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87" name="Google Shape;87;p19"/>
          <p:cNvSpPr txBox="1"/>
          <p:nvPr>
            <p:ph idx="1" type="body"/>
          </p:nvPr>
        </p:nvSpPr>
        <p:spPr>
          <a:xfrm>
            <a:off x="228600" y="767556"/>
            <a:ext cx="2020094" cy="319881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9pPr>
          </a:lstStyle>
          <a:p/>
        </p:txBody>
      </p:sp>
      <p:sp>
        <p:nvSpPr>
          <p:cNvPr id="88" name="Google Shape;88;p19"/>
          <p:cNvSpPr txBox="1"/>
          <p:nvPr>
            <p:ph idx="2" type="body"/>
          </p:nvPr>
        </p:nvSpPr>
        <p:spPr>
          <a:xfrm>
            <a:off x="228600" y="1087438"/>
            <a:ext cx="2020094" cy="1975644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048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1pPr>
            <a:lvl2pPr indent="-2921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2pPr>
            <a:lvl3pPr indent="-28575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3pPr>
            <a:lvl4pPr indent="-2794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–"/>
              <a:defRPr sz="800"/>
            </a:lvl4pPr>
            <a:lvl5pPr indent="-2794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»"/>
              <a:defRPr sz="800"/>
            </a:lvl5pPr>
            <a:lvl6pPr indent="-2794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6pPr>
            <a:lvl7pPr indent="-2794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7pPr>
            <a:lvl8pPr indent="-2794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8pPr>
            <a:lvl9pPr indent="-2794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9pPr>
          </a:lstStyle>
          <a:p/>
        </p:txBody>
      </p:sp>
      <p:sp>
        <p:nvSpPr>
          <p:cNvPr id="89" name="Google Shape;89;p19"/>
          <p:cNvSpPr txBox="1"/>
          <p:nvPr>
            <p:ph idx="3" type="body"/>
          </p:nvPr>
        </p:nvSpPr>
        <p:spPr>
          <a:xfrm>
            <a:off x="2322513" y="767556"/>
            <a:ext cx="2020888" cy="319881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9pPr>
          </a:lstStyle>
          <a:p/>
        </p:txBody>
      </p:sp>
      <p:sp>
        <p:nvSpPr>
          <p:cNvPr id="90" name="Google Shape;90;p19"/>
          <p:cNvSpPr txBox="1"/>
          <p:nvPr>
            <p:ph idx="4" type="body"/>
          </p:nvPr>
        </p:nvSpPr>
        <p:spPr>
          <a:xfrm>
            <a:off x="2322513" y="1087438"/>
            <a:ext cx="2020888" cy="1975644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048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1pPr>
            <a:lvl2pPr indent="-2921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2pPr>
            <a:lvl3pPr indent="-28575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3pPr>
            <a:lvl4pPr indent="-2794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–"/>
              <a:defRPr sz="800"/>
            </a:lvl4pPr>
            <a:lvl5pPr indent="-2794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»"/>
              <a:defRPr sz="800"/>
            </a:lvl5pPr>
            <a:lvl6pPr indent="-2794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6pPr>
            <a:lvl7pPr indent="-2794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7pPr>
            <a:lvl8pPr indent="-2794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8pPr>
            <a:lvl9pPr indent="-2794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9pPr>
          </a:lstStyle>
          <a:p/>
        </p:txBody>
      </p:sp>
      <p:sp>
        <p:nvSpPr>
          <p:cNvPr id="91" name="Google Shape;91;p19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6" name="Google Shape;96;p20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228600" y="136525"/>
            <a:ext cx="1504157" cy="581025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1787525" y="136525"/>
            <a:ext cx="2555875" cy="2926557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302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2pPr>
            <a:lvl3pPr indent="-3048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indent="-2921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4pPr>
            <a:lvl5pPr indent="-2921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»"/>
              <a:defRPr sz="1000"/>
            </a:lvl5pPr>
            <a:lvl6pPr indent="-2921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6pPr>
            <a:lvl7pPr indent="-2921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7pPr>
            <a:lvl8pPr indent="-2921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8pPr>
            <a:lvl9pPr indent="-2921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228600" y="717550"/>
            <a:ext cx="1504157" cy="2345532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28600" lvl="0" marL="457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1pPr>
            <a:lvl2pPr indent="-228600" lvl="1" marL="914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2pPr>
            <a:lvl3pPr indent="-228600" lvl="2" marL="1371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896144" y="2400300"/>
            <a:ext cx="2743200" cy="283369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08" name="Google Shape;108;p22"/>
          <p:cNvSpPr/>
          <p:nvPr>
            <p:ph idx="2" type="pic"/>
          </p:nvPr>
        </p:nvSpPr>
        <p:spPr>
          <a:xfrm>
            <a:off x="896144" y="306388"/>
            <a:ext cx="2743200" cy="20574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896144" y="2683669"/>
            <a:ext cx="2743200" cy="402431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28600" lvl="0" marL="457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1pPr>
            <a:lvl2pPr indent="-228600" lvl="1" marL="914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2pPr>
            <a:lvl3pPr indent="-228600" lvl="2" marL="1371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 rot="5400000">
            <a:off x="1154509" y="-125809"/>
            <a:ext cx="2262982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8575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indent="-28575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indent="-28575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indent="-2857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indent="-2857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indent="-2857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indent="-2857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indent="-2857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indent="-2857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 rot="5400000">
            <a:off x="2366169" y="1085850"/>
            <a:ext cx="2925763" cy="10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270669" y="95250"/>
            <a:ext cx="2925763" cy="30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8575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indent="-28575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indent="-28575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indent="-2857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indent="-2857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indent="-2857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indent="-2857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indent="-2857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indent="-2857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  <a:defRPr b="0" i="0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228600" y="800100"/>
            <a:ext cx="4114800" cy="2262982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30200" lvl="0" marL="457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04800" lvl="2" marL="13716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2100" lvl="3" marL="18288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–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2100" lvl="4" marL="22860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»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2100" lvl="5" marL="27432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2100" lvl="6" marL="32004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2100" lvl="7" marL="36576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2100" lvl="8" marL="41148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hyperlink" Target="https://docs.google.com/forms/d/1pJyHo4KvusXb_rNxqflGxAxBjrvNzBHT4RHsA7SsgVA/edit" TargetMode="External"/><Relationship Id="rId5" Type="http://schemas.openxmlformats.org/officeDocument/2006/relationships/hyperlink" Target="https://docs.google.com/spreadsheets/d/1F1VwmP1eyeN1x0ebljlni4-3VIO-9AEv1lSTXusZlrs/edit?usp=sharing" TargetMode="External"/><Relationship Id="rId6" Type="http://schemas.openxmlformats.org/officeDocument/2006/relationships/hyperlink" Target="https://drive.google.com/file/d/18m1UyqnD_9f50QJKrMi__ShIiZ9l7xgo/view?usp=sharing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Relationship Id="rId4" Type="http://schemas.openxmlformats.org/officeDocument/2006/relationships/image" Target="../media/image21.png"/><Relationship Id="rId10" Type="http://schemas.openxmlformats.org/officeDocument/2006/relationships/image" Target="../media/image15.png"/><Relationship Id="rId9" Type="http://schemas.openxmlformats.org/officeDocument/2006/relationships/image" Target="../media/image7.png"/><Relationship Id="rId5" Type="http://schemas.openxmlformats.org/officeDocument/2006/relationships/image" Target="../media/image6.png"/><Relationship Id="rId6" Type="http://schemas.openxmlformats.org/officeDocument/2006/relationships/image" Target="../media/image17.png"/><Relationship Id="rId7" Type="http://schemas.openxmlformats.org/officeDocument/2006/relationships/image" Target="../media/image16.png"/><Relationship Id="rId8" Type="http://schemas.openxmlformats.org/officeDocument/2006/relationships/image" Target="../media/image1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0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8D2E4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9" name="Google Shape;129;p25"/>
          <p:cNvGrpSpPr/>
          <p:nvPr/>
        </p:nvGrpSpPr>
        <p:grpSpPr>
          <a:xfrm>
            <a:off x="4676663" y="124026"/>
            <a:ext cx="4420865" cy="4895431"/>
            <a:chOff x="0" y="-28575"/>
            <a:chExt cx="2328732" cy="2578714"/>
          </a:xfrm>
        </p:grpSpPr>
        <p:sp>
          <p:nvSpPr>
            <p:cNvPr id="130" name="Google Shape;130;p25"/>
            <p:cNvSpPr/>
            <p:nvPr/>
          </p:nvSpPr>
          <p:spPr>
            <a:xfrm>
              <a:off x="0" y="0"/>
              <a:ext cx="2328732" cy="2550139"/>
            </a:xfrm>
            <a:custGeom>
              <a:rect b="b" l="l" r="r" t="t"/>
              <a:pathLst>
                <a:path extrusionOk="0" h="2550139" w="2328732">
                  <a:moveTo>
                    <a:pt x="0" y="0"/>
                  </a:moveTo>
                  <a:lnTo>
                    <a:pt x="2328732" y="0"/>
                  </a:lnTo>
                  <a:lnTo>
                    <a:pt x="2328732" y="2550139"/>
                  </a:lnTo>
                  <a:lnTo>
                    <a:pt x="0" y="2550139"/>
                  </a:lnTo>
                  <a:close/>
                </a:path>
              </a:pathLst>
            </a:custGeom>
            <a:solidFill>
              <a:srgbClr val="FBF6F1"/>
            </a:solidFill>
            <a:ln>
              <a:noFill/>
            </a:ln>
          </p:spPr>
        </p:sp>
        <p:sp>
          <p:nvSpPr>
            <p:cNvPr id="131" name="Google Shape;131;p25"/>
            <p:cNvSpPr txBox="1"/>
            <p:nvPr/>
          </p:nvSpPr>
          <p:spPr>
            <a:xfrm>
              <a:off x="0" y="-28575"/>
              <a:ext cx="2328732" cy="257871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08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2" name="Google Shape;132;p25"/>
          <p:cNvSpPr/>
          <p:nvPr/>
        </p:nvSpPr>
        <p:spPr>
          <a:xfrm>
            <a:off x="5184517" y="1020850"/>
            <a:ext cx="3405169" cy="3101799"/>
          </a:xfrm>
          <a:custGeom>
            <a:rect b="b" l="l" r="r" t="t"/>
            <a:pathLst>
              <a:path extrusionOk="0" h="6203599" w="6810338">
                <a:moveTo>
                  <a:pt x="0" y="0"/>
                </a:moveTo>
                <a:lnTo>
                  <a:pt x="6810338" y="0"/>
                </a:lnTo>
                <a:lnTo>
                  <a:pt x="6810338" y="6203600"/>
                </a:lnTo>
                <a:lnTo>
                  <a:pt x="0" y="6203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3" name="Google Shape;133;p25"/>
          <p:cNvSpPr/>
          <p:nvPr/>
        </p:nvSpPr>
        <p:spPr>
          <a:xfrm>
            <a:off x="514350" y="514350"/>
            <a:ext cx="364003" cy="386490"/>
          </a:xfrm>
          <a:custGeom>
            <a:rect b="b" l="l" r="r" t="t"/>
            <a:pathLst>
              <a:path extrusionOk="0" h="772980" w="728006">
                <a:moveTo>
                  <a:pt x="0" y="0"/>
                </a:moveTo>
                <a:lnTo>
                  <a:pt x="728006" y="0"/>
                </a:lnTo>
                <a:lnTo>
                  <a:pt x="728006" y="772980"/>
                </a:lnTo>
                <a:lnTo>
                  <a:pt x="0" y="7729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4" name="Google Shape;134;p25"/>
          <p:cNvSpPr txBox="1"/>
          <p:nvPr/>
        </p:nvSpPr>
        <p:spPr>
          <a:xfrm>
            <a:off x="55200" y="1144800"/>
            <a:ext cx="4572000" cy="25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800">
                <a:solidFill>
                  <a:srgbClr val="156669"/>
                </a:solidFill>
                <a:latin typeface="Public Sans"/>
                <a:ea typeface="Public Sans"/>
                <a:cs typeface="Public Sans"/>
                <a:sym typeface="Public Sans"/>
              </a:rPr>
              <a:t>Appointment No-Show &amp; Cancellation</a:t>
            </a:r>
            <a:endParaRPr sz="700"/>
          </a:p>
        </p:txBody>
      </p:sp>
      <p:sp>
        <p:nvSpPr>
          <p:cNvPr id="135" name="Google Shape;135;p25"/>
          <p:cNvSpPr txBox="1"/>
          <p:nvPr/>
        </p:nvSpPr>
        <p:spPr>
          <a:xfrm>
            <a:off x="514350" y="3247488"/>
            <a:ext cx="3763800" cy="1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29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sp>
        <p:nvSpPr>
          <p:cNvPr id="136" name="Google Shape;136;p25"/>
          <p:cNvSpPr txBox="1"/>
          <p:nvPr/>
        </p:nvSpPr>
        <p:spPr>
          <a:xfrm>
            <a:off x="514350" y="4434840"/>
            <a:ext cx="3478200" cy="1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sp>
        <p:nvSpPr>
          <p:cNvPr id="137" name="Google Shape;137;p25"/>
          <p:cNvSpPr txBox="1"/>
          <p:nvPr/>
        </p:nvSpPr>
        <p:spPr>
          <a:xfrm>
            <a:off x="1007923" y="627100"/>
            <a:ext cx="2016300" cy="2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156669"/>
                </a:solidFill>
                <a:latin typeface="Public Sans"/>
                <a:ea typeface="Public Sans"/>
                <a:cs typeface="Public Sans"/>
                <a:sym typeface="Public Sans"/>
              </a:rPr>
              <a:t>UChicago</a:t>
            </a:r>
            <a:r>
              <a:rPr lang="en" sz="1500">
                <a:solidFill>
                  <a:srgbClr val="156669"/>
                </a:solidFill>
                <a:latin typeface="Public Sans"/>
                <a:ea typeface="Public Sans"/>
                <a:cs typeface="Public Sans"/>
                <a:sym typeface="Public Sans"/>
              </a:rPr>
              <a:t> Medicine</a:t>
            </a:r>
            <a:r>
              <a:rPr b="0" i="0" lang="en" sz="1500" u="none" cap="none" strike="noStrike">
                <a:solidFill>
                  <a:srgbClr val="156669"/>
                </a:solidFill>
                <a:latin typeface="Public Sans"/>
                <a:ea typeface="Public Sans"/>
                <a:cs typeface="Public Sans"/>
                <a:sym typeface="Public Sans"/>
              </a:rPr>
              <a:t>.</a:t>
            </a:r>
            <a:endParaRPr sz="700"/>
          </a:p>
        </p:txBody>
      </p:sp>
      <p:sp>
        <p:nvSpPr>
          <p:cNvPr id="138" name="Google Shape;138;p25"/>
          <p:cNvSpPr txBox="1"/>
          <p:nvPr/>
        </p:nvSpPr>
        <p:spPr>
          <a:xfrm>
            <a:off x="110250" y="3849800"/>
            <a:ext cx="4629000" cy="7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56669"/>
                </a:solidFill>
                <a:latin typeface="Calibri"/>
                <a:ea typeface="Calibri"/>
                <a:cs typeface="Calibri"/>
                <a:sym typeface="Calibri"/>
              </a:rPr>
              <a:t>By: Georgia Bakopoulos, Alexandra Korol, Katherine </a:t>
            </a:r>
            <a:r>
              <a:rPr lang="en">
                <a:solidFill>
                  <a:srgbClr val="156669"/>
                </a:solidFill>
                <a:latin typeface="Calibri"/>
                <a:ea typeface="Calibri"/>
                <a:cs typeface="Calibri"/>
                <a:sym typeface="Calibri"/>
              </a:rPr>
              <a:t>Oliynyk, Mitchell McCarvel, Patryk Suszko, and Bryce Robbins</a:t>
            </a:r>
            <a:endParaRPr>
              <a:solidFill>
                <a:srgbClr val="15666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15666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6F1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6"/>
          <p:cNvSpPr/>
          <p:nvPr/>
        </p:nvSpPr>
        <p:spPr>
          <a:xfrm>
            <a:off x="5103864" y="1100535"/>
            <a:ext cx="3525787" cy="2942429"/>
          </a:xfrm>
          <a:custGeom>
            <a:rect b="b" l="l" r="r" t="t"/>
            <a:pathLst>
              <a:path extrusionOk="0" h="5884858" w="7051573">
                <a:moveTo>
                  <a:pt x="0" y="0"/>
                </a:moveTo>
                <a:lnTo>
                  <a:pt x="7051573" y="0"/>
                </a:lnTo>
                <a:lnTo>
                  <a:pt x="7051573" y="5884858"/>
                </a:lnTo>
                <a:lnTo>
                  <a:pt x="0" y="588485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4" name="Google Shape;144;p26"/>
          <p:cNvSpPr txBox="1"/>
          <p:nvPr/>
        </p:nvSpPr>
        <p:spPr>
          <a:xfrm>
            <a:off x="609575" y="285125"/>
            <a:ext cx="5742900" cy="5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5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156669"/>
                </a:solidFill>
                <a:latin typeface="Public Sans"/>
                <a:ea typeface="Public Sans"/>
                <a:cs typeface="Public Sans"/>
                <a:sym typeface="Public Sans"/>
              </a:rPr>
              <a:t>Business Need &amp; Value</a:t>
            </a:r>
            <a:endParaRPr sz="700"/>
          </a:p>
        </p:txBody>
      </p:sp>
      <p:sp>
        <p:nvSpPr>
          <p:cNvPr id="145" name="Google Shape;145;p26"/>
          <p:cNvSpPr txBox="1"/>
          <p:nvPr/>
        </p:nvSpPr>
        <p:spPr>
          <a:xfrm>
            <a:off x="6093800" y="229750"/>
            <a:ext cx="2958000" cy="22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41300" lvl="0" marL="457200" rtl="0" algn="l">
              <a:spcBef>
                <a:spcPts val="0"/>
              </a:spcBef>
              <a:spcAft>
                <a:spcPts val="0"/>
              </a:spcAft>
              <a:buClr>
                <a:srgbClr val="FBF6F1"/>
              </a:buClr>
              <a:buSzPts val="200"/>
              <a:buFont typeface="Calibri"/>
              <a:buChar char="●"/>
            </a:pPr>
            <a:r>
              <a:rPr lang="en" sz="200">
                <a:solidFill>
                  <a:srgbClr val="FBF6F1"/>
                </a:solidFill>
                <a:latin typeface="Calibri"/>
                <a:ea typeface="Calibri"/>
                <a:cs typeface="Calibri"/>
                <a:sym typeface="Calibri"/>
              </a:rPr>
              <a:t>The request is to </a:t>
            </a:r>
            <a:r>
              <a:rPr lang="en" sz="200">
                <a:solidFill>
                  <a:srgbClr val="FBF6F1"/>
                </a:solidFill>
                <a:latin typeface="Calibri"/>
                <a:ea typeface="Calibri"/>
                <a:cs typeface="Calibri"/>
                <a:sym typeface="Calibri"/>
              </a:rPr>
              <a:t>help mitigate the amount of “no show” appointments in the University of Chicago hospital</a:t>
            </a:r>
            <a:endParaRPr sz="200">
              <a:solidFill>
                <a:srgbClr val="FBF6F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1300" lvl="0" marL="457200" rtl="0" algn="l">
              <a:spcBef>
                <a:spcPts val="0"/>
              </a:spcBef>
              <a:spcAft>
                <a:spcPts val="0"/>
              </a:spcAft>
              <a:buClr>
                <a:srgbClr val="FBF6F1"/>
              </a:buClr>
              <a:buSzPts val="200"/>
              <a:buFont typeface="Calibri"/>
              <a:buChar char="●"/>
            </a:pPr>
            <a:r>
              <a:rPr lang="en" sz="200">
                <a:solidFill>
                  <a:srgbClr val="FBF6F1"/>
                </a:solidFill>
                <a:latin typeface="Calibri"/>
                <a:ea typeface="Calibri"/>
                <a:cs typeface="Calibri"/>
                <a:sym typeface="Calibri"/>
              </a:rPr>
              <a:t>No shows lead to many issues within the hospital</a:t>
            </a:r>
            <a:endParaRPr sz="200">
              <a:solidFill>
                <a:srgbClr val="FBF6F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1300" lvl="1" marL="914400" rtl="0" algn="l">
              <a:spcBef>
                <a:spcPts val="0"/>
              </a:spcBef>
              <a:spcAft>
                <a:spcPts val="0"/>
              </a:spcAft>
              <a:buClr>
                <a:srgbClr val="FBF6F1"/>
              </a:buClr>
              <a:buSzPts val="200"/>
              <a:buFont typeface="Calibri"/>
              <a:buChar char="○"/>
            </a:pPr>
            <a:r>
              <a:rPr lang="en" sz="200">
                <a:solidFill>
                  <a:srgbClr val="FBF6F1"/>
                </a:solidFill>
                <a:latin typeface="Calibri"/>
                <a:ea typeface="Calibri"/>
                <a:cs typeface="Calibri"/>
                <a:sym typeface="Calibri"/>
              </a:rPr>
              <a:t>Creates time issues</a:t>
            </a:r>
            <a:endParaRPr sz="200">
              <a:solidFill>
                <a:srgbClr val="FBF6F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1300" lvl="1" marL="914400" rtl="0" algn="l">
              <a:spcBef>
                <a:spcPts val="0"/>
              </a:spcBef>
              <a:spcAft>
                <a:spcPts val="0"/>
              </a:spcAft>
              <a:buClr>
                <a:srgbClr val="FBF6F1"/>
              </a:buClr>
              <a:buSzPts val="200"/>
              <a:buFont typeface="Calibri"/>
              <a:buChar char="○"/>
            </a:pPr>
            <a:r>
              <a:rPr lang="en" sz="200">
                <a:solidFill>
                  <a:srgbClr val="FBF6F1"/>
                </a:solidFill>
                <a:latin typeface="Calibri"/>
                <a:ea typeface="Calibri"/>
                <a:cs typeface="Calibri"/>
                <a:sym typeface="Calibri"/>
              </a:rPr>
              <a:t>Wastes resources (staff, doctors, etc.)</a:t>
            </a:r>
            <a:endParaRPr sz="200">
              <a:solidFill>
                <a:srgbClr val="FBF6F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1300" lvl="1" marL="914400" rtl="0" algn="l">
              <a:spcBef>
                <a:spcPts val="0"/>
              </a:spcBef>
              <a:spcAft>
                <a:spcPts val="0"/>
              </a:spcAft>
              <a:buClr>
                <a:srgbClr val="FBF6F1"/>
              </a:buClr>
              <a:buSzPts val="200"/>
              <a:buFont typeface="Calibri"/>
              <a:buChar char="○"/>
            </a:pPr>
            <a:r>
              <a:rPr lang="en" sz="200">
                <a:solidFill>
                  <a:srgbClr val="FBF6F1"/>
                </a:solidFill>
                <a:latin typeface="Calibri"/>
                <a:ea typeface="Calibri"/>
                <a:cs typeface="Calibri"/>
                <a:sym typeface="Calibri"/>
              </a:rPr>
              <a:t>Ultimately creates a mismanaged schedule and could lead to financial troubles</a:t>
            </a:r>
            <a:endParaRPr sz="200">
              <a:solidFill>
                <a:srgbClr val="FBF6F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1300" lvl="0" marL="457200" rtl="0" algn="l">
              <a:spcBef>
                <a:spcPts val="0"/>
              </a:spcBef>
              <a:spcAft>
                <a:spcPts val="0"/>
              </a:spcAft>
              <a:buClr>
                <a:srgbClr val="FBF6F1"/>
              </a:buClr>
              <a:buSzPts val="200"/>
              <a:buFont typeface="Calibri"/>
              <a:buChar char="●"/>
            </a:pPr>
            <a:r>
              <a:rPr lang="en" sz="200">
                <a:solidFill>
                  <a:srgbClr val="FBF6F1"/>
                </a:solidFill>
                <a:latin typeface="Calibri"/>
                <a:ea typeface="Calibri"/>
                <a:cs typeface="Calibri"/>
                <a:sym typeface="Calibri"/>
              </a:rPr>
              <a:t>The hospital needs to find a way to help reduce the amount of “no show” appointments to do away with some of the issues presented above</a:t>
            </a:r>
            <a:endParaRPr sz="200">
              <a:solidFill>
                <a:srgbClr val="FBF6F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1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"/>
              <a:buFont typeface="Calibri"/>
              <a:buChar char="●"/>
            </a:pPr>
            <a:r>
              <a:t/>
            </a:r>
            <a:endParaRPr sz="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26"/>
          <p:cNvSpPr txBox="1"/>
          <p:nvPr/>
        </p:nvSpPr>
        <p:spPr>
          <a:xfrm>
            <a:off x="609575" y="815250"/>
            <a:ext cx="4030200" cy="31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Business Need: Lower the University of Chicago Hospital’s percentage of patients not showing up to scheduled appointments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A no-show leads to: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Wasted resources (staff &amp; doctor’s time, consultation room cleaning resources)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Mismanaged schedule and financial discrepancies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Business Value: 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Improve physician productivity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Efficient use of hospital resources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Increase ambulatory (outpatient service) revenue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8D2E4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7"/>
          <p:cNvSpPr txBox="1"/>
          <p:nvPr/>
        </p:nvSpPr>
        <p:spPr>
          <a:xfrm>
            <a:off x="902300" y="338975"/>
            <a:ext cx="7221900" cy="5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95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700">
                <a:solidFill>
                  <a:srgbClr val="156669"/>
                </a:solidFill>
                <a:latin typeface="Public Sans"/>
                <a:ea typeface="Public Sans"/>
                <a:cs typeface="Public Sans"/>
                <a:sym typeface="Public Sans"/>
              </a:rPr>
              <a:t>Background Information </a:t>
            </a:r>
            <a:endParaRPr b="1" sz="400"/>
          </a:p>
        </p:txBody>
      </p:sp>
      <p:sp>
        <p:nvSpPr>
          <p:cNvPr id="152" name="Google Shape;152;p27"/>
          <p:cNvSpPr txBox="1"/>
          <p:nvPr/>
        </p:nvSpPr>
        <p:spPr>
          <a:xfrm>
            <a:off x="584700" y="1179300"/>
            <a:ext cx="4132200" cy="396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23850" lvl="0" marL="457200" marR="0" rtl="0" algn="l">
              <a:lnSpc>
                <a:spcPct val="163000"/>
              </a:lnSpc>
              <a:spcBef>
                <a:spcPts val="0"/>
              </a:spcBef>
              <a:spcAft>
                <a:spcPts val="0"/>
              </a:spcAft>
              <a:buClr>
                <a:srgbClr val="156669"/>
              </a:buClr>
              <a:buSzPts val="1500"/>
              <a:buChar char="●"/>
            </a:pPr>
            <a:r>
              <a:rPr lang="en" sz="1500">
                <a:solidFill>
                  <a:srgbClr val="156669"/>
                </a:solidFill>
              </a:rPr>
              <a:t>Current average no show rate is 20%, meaning 1 in 5 appointments are no-shows.</a:t>
            </a:r>
            <a:endParaRPr sz="1500">
              <a:solidFill>
                <a:srgbClr val="156669"/>
              </a:solidFill>
            </a:endParaRPr>
          </a:p>
          <a:p>
            <a:pPr indent="-323850" lvl="0" marL="457200" rtl="0" algn="l">
              <a:lnSpc>
                <a:spcPct val="163000"/>
              </a:lnSpc>
              <a:spcBef>
                <a:spcPts val="0"/>
              </a:spcBef>
              <a:spcAft>
                <a:spcPts val="0"/>
              </a:spcAft>
              <a:buClr>
                <a:srgbClr val="156669"/>
              </a:buClr>
              <a:buSzPts val="1500"/>
              <a:buChar char="●"/>
            </a:pPr>
            <a:r>
              <a:rPr lang="en" sz="1500">
                <a:solidFill>
                  <a:srgbClr val="156669"/>
                </a:solidFill>
              </a:rPr>
              <a:t>Groups that are most likely to no-show or cancel:</a:t>
            </a:r>
            <a:endParaRPr sz="1500">
              <a:solidFill>
                <a:srgbClr val="156669"/>
              </a:solidFill>
            </a:endParaRPr>
          </a:p>
          <a:p>
            <a:pPr indent="-323850" lvl="1" marL="914400" rtl="0" algn="l">
              <a:lnSpc>
                <a:spcPct val="163000"/>
              </a:lnSpc>
              <a:spcBef>
                <a:spcPts val="0"/>
              </a:spcBef>
              <a:spcAft>
                <a:spcPts val="0"/>
              </a:spcAft>
              <a:buClr>
                <a:srgbClr val="156669"/>
              </a:buClr>
              <a:buSzPts val="1500"/>
              <a:buChar char="○"/>
            </a:pPr>
            <a:r>
              <a:rPr lang="en" sz="1500">
                <a:solidFill>
                  <a:srgbClr val="156669"/>
                </a:solidFill>
              </a:rPr>
              <a:t>Young adults </a:t>
            </a:r>
            <a:endParaRPr sz="1500">
              <a:solidFill>
                <a:srgbClr val="156669"/>
              </a:solidFill>
            </a:endParaRPr>
          </a:p>
          <a:p>
            <a:pPr indent="-323850" lvl="1" marL="914400" rtl="0" algn="l">
              <a:lnSpc>
                <a:spcPct val="163000"/>
              </a:lnSpc>
              <a:spcBef>
                <a:spcPts val="0"/>
              </a:spcBef>
              <a:spcAft>
                <a:spcPts val="0"/>
              </a:spcAft>
              <a:buClr>
                <a:srgbClr val="156669"/>
              </a:buClr>
              <a:buSzPts val="1500"/>
              <a:buChar char="○"/>
            </a:pPr>
            <a:r>
              <a:rPr lang="en" sz="1500">
                <a:solidFill>
                  <a:srgbClr val="156669"/>
                </a:solidFill>
              </a:rPr>
              <a:t>Pediatric patients: children rely on their parents to take them to appointments</a:t>
            </a:r>
            <a:endParaRPr sz="1500">
              <a:solidFill>
                <a:srgbClr val="156669"/>
              </a:solidFill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56669"/>
              </a:buClr>
              <a:buSzPts val="1500"/>
              <a:buChar char="●"/>
            </a:pPr>
            <a:r>
              <a:rPr lang="en" sz="1500">
                <a:solidFill>
                  <a:srgbClr val="156669"/>
                </a:solidFill>
              </a:rPr>
              <a:t>Higher rate of no shows in returning patients.</a:t>
            </a:r>
            <a:endParaRPr sz="1500">
              <a:solidFill>
                <a:srgbClr val="156669"/>
              </a:solidFill>
            </a:endParaRPr>
          </a:p>
        </p:txBody>
      </p:sp>
      <p:pic>
        <p:nvPicPr>
          <p:cNvPr descr="Royalty-Free photo: Emergency hospital signage | PickPik" id="153" name="Google Shape;153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21700" y="2383025"/>
            <a:ext cx="4122300" cy="276046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4" name="Google Shape;154;p27"/>
          <p:cNvCxnSpPr/>
          <p:nvPr/>
        </p:nvCxnSpPr>
        <p:spPr>
          <a:xfrm>
            <a:off x="2859050" y="962250"/>
            <a:ext cx="5261100" cy="27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6F1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9" name="Google Shape;159;p28"/>
          <p:cNvGrpSpPr/>
          <p:nvPr/>
        </p:nvGrpSpPr>
        <p:grpSpPr>
          <a:xfrm>
            <a:off x="267364" y="859175"/>
            <a:ext cx="8537332" cy="4192255"/>
            <a:chOff x="0" y="-38100"/>
            <a:chExt cx="1722000" cy="1611600"/>
          </a:xfrm>
        </p:grpSpPr>
        <p:sp>
          <p:nvSpPr>
            <p:cNvPr id="160" name="Google Shape;160;p28"/>
            <p:cNvSpPr/>
            <p:nvPr/>
          </p:nvSpPr>
          <p:spPr>
            <a:xfrm>
              <a:off x="0" y="0"/>
              <a:ext cx="1721972" cy="1573495"/>
            </a:xfrm>
            <a:custGeom>
              <a:rect b="b" l="l" r="r" t="t"/>
              <a:pathLst>
                <a:path extrusionOk="0" h="1573495" w="1721972">
                  <a:moveTo>
                    <a:pt x="22008" y="0"/>
                  </a:moveTo>
                  <a:lnTo>
                    <a:pt x="1699964" y="0"/>
                  </a:lnTo>
                  <a:cubicBezTo>
                    <a:pt x="1705801" y="0"/>
                    <a:pt x="1711399" y="2319"/>
                    <a:pt x="1715526" y="6446"/>
                  </a:cubicBezTo>
                  <a:cubicBezTo>
                    <a:pt x="1719654" y="10573"/>
                    <a:pt x="1721972" y="16171"/>
                    <a:pt x="1721972" y="22008"/>
                  </a:cubicBezTo>
                  <a:lnTo>
                    <a:pt x="1721972" y="1551487"/>
                  </a:lnTo>
                  <a:cubicBezTo>
                    <a:pt x="1721972" y="1563642"/>
                    <a:pt x="1712119" y="1573495"/>
                    <a:pt x="1699964" y="1573495"/>
                  </a:cubicBezTo>
                  <a:lnTo>
                    <a:pt x="22008" y="1573495"/>
                  </a:lnTo>
                  <a:cubicBezTo>
                    <a:pt x="16171" y="1573495"/>
                    <a:pt x="10573" y="1571177"/>
                    <a:pt x="6446" y="1567050"/>
                  </a:cubicBezTo>
                  <a:cubicBezTo>
                    <a:pt x="2319" y="1562922"/>
                    <a:pt x="0" y="1557324"/>
                    <a:pt x="0" y="1551487"/>
                  </a:cubicBezTo>
                  <a:lnTo>
                    <a:pt x="0" y="22008"/>
                  </a:lnTo>
                  <a:cubicBezTo>
                    <a:pt x="0" y="16171"/>
                    <a:pt x="2319" y="10573"/>
                    <a:pt x="6446" y="6446"/>
                  </a:cubicBezTo>
                  <a:cubicBezTo>
                    <a:pt x="10573" y="2319"/>
                    <a:pt x="16171" y="0"/>
                    <a:pt x="22008" y="0"/>
                  </a:cubicBezTo>
                  <a:close/>
                </a:path>
              </a:pathLst>
            </a:custGeom>
            <a:solidFill>
              <a:srgbClr val="B8D2E4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" name="Google Shape;161;p28"/>
            <p:cNvSpPr txBox="1"/>
            <p:nvPr/>
          </p:nvSpPr>
          <p:spPr>
            <a:xfrm>
              <a:off x="0" y="-38100"/>
              <a:ext cx="1722000" cy="161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2" name="Google Shape;162;p28"/>
          <p:cNvSpPr txBox="1"/>
          <p:nvPr/>
        </p:nvSpPr>
        <p:spPr>
          <a:xfrm>
            <a:off x="267338" y="984650"/>
            <a:ext cx="8537400" cy="364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56669"/>
              </a:buClr>
              <a:buSzPts val="1900"/>
              <a:buFont typeface="Times New Roman"/>
              <a:buChar char="●"/>
            </a:pPr>
            <a:r>
              <a:rPr lang="en" sz="1900">
                <a:solidFill>
                  <a:srgbClr val="15666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Text/call reminders will be followed up by an additional message after 24 hours if no response is given, </a:t>
            </a:r>
            <a:r>
              <a:rPr lang="en" sz="1900">
                <a:solidFill>
                  <a:srgbClr val="15666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where the appointment will simply be</a:t>
            </a:r>
            <a:r>
              <a:rPr b="1" lang="en" sz="1900">
                <a:solidFill>
                  <a:srgbClr val="15666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canceled if no response is received 24 hours prior to the scheduled appointment time.</a:t>
            </a:r>
            <a:endParaRPr b="1" sz="1900">
              <a:solidFill>
                <a:srgbClr val="15666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6669"/>
              </a:buClr>
              <a:buSzPts val="1900"/>
              <a:buFont typeface="Times New Roman"/>
              <a:buChar char="○"/>
            </a:pPr>
            <a:r>
              <a:rPr lang="en" sz="1900">
                <a:solidFill>
                  <a:srgbClr val="15666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 this time, employees can see if a waitlisted patient would like to fill the open time slot.</a:t>
            </a:r>
            <a:endParaRPr sz="1900">
              <a:solidFill>
                <a:srgbClr val="15666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6669"/>
              </a:buClr>
              <a:buSzPts val="1900"/>
              <a:buFont typeface="Times New Roman"/>
              <a:buChar char="○"/>
            </a:pPr>
            <a:r>
              <a:rPr lang="en" sz="1900">
                <a:solidFill>
                  <a:srgbClr val="15666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Upon cancellation, rescheduling options will be sent out to patient.</a:t>
            </a:r>
            <a:endParaRPr sz="1900">
              <a:solidFill>
                <a:srgbClr val="15666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6669"/>
              </a:buClr>
              <a:buSzPts val="1900"/>
              <a:buFont typeface="Times New Roman"/>
              <a:buChar char="●"/>
            </a:pPr>
            <a:r>
              <a:rPr lang="en" sz="1900">
                <a:solidFill>
                  <a:srgbClr val="15666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Patients will be entered into a </a:t>
            </a:r>
            <a:r>
              <a:rPr b="1" lang="en" sz="1900">
                <a:solidFill>
                  <a:srgbClr val="15666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raffle </a:t>
            </a:r>
            <a:r>
              <a:rPr lang="en" sz="1900">
                <a:solidFill>
                  <a:srgbClr val="15666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award and incentivize good attendance.</a:t>
            </a:r>
            <a:endParaRPr sz="1900">
              <a:solidFill>
                <a:srgbClr val="15666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6669"/>
              </a:buClr>
              <a:buSzPts val="1900"/>
              <a:buFont typeface="Times New Roman"/>
              <a:buChar char="●"/>
            </a:pPr>
            <a:r>
              <a:rPr lang="en" sz="1900">
                <a:solidFill>
                  <a:srgbClr val="15666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b="1" lang="en" sz="1900">
                <a:solidFill>
                  <a:srgbClr val="15666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survey </a:t>
            </a:r>
            <a:r>
              <a:rPr lang="en" sz="1900">
                <a:solidFill>
                  <a:srgbClr val="15666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will be sent out to patients to collect data on their reasons for a no-show, which will also provide resources to combat no-shows.</a:t>
            </a:r>
            <a:endParaRPr sz="1900">
              <a:solidFill>
                <a:srgbClr val="15666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6669"/>
              </a:buClr>
              <a:buSzPts val="1900"/>
              <a:buFont typeface="Times New Roman"/>
              <a:buChar char="●"/>
            </a:pPr>
            <a:r>
              <a:rPr lang="en" sz="1900">
                <a:solidFill>
                  <a:srgbClr val="15666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Recommendation to hire an </a:t>
            </a:r>
            <a:r>
              <a:rPr b="1" lang="en" sz="1900">
                <a:solidFill>
                  <a:srgbClr val="15666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additional staff member</a:t>
            </a:r>
            <a:r>
              <a:rPr lang="en" sz="1900">
                <a:solidFill>
                  <a:srgbClr val="15666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more details in later slides</a:t>
            </a:r>
            <a:endParaRPr sz="1900">
              <a:solidFill>
                <a:srgbClr val="15666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3" name="Google Shape;163;p28"/>
          <p:cNvSpPr txBox="1"/>
          <p:nvPr/>
        </p:nvSpPr>
        <p:spPr>
          <a:xfrm>
            <a:off x="1101200" y="253250"/>
            <a:ext cx="68697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lnSpc>
                <a:spcPct val="95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3700">
                <a:solidFill>
                  <a:srgbClr val="156669"/>
                </a:solidFill>
                <a:latin typeface="Public Sans"/>
                <a:ea typeface="Public Sans"/>
                <a:cs typeface="Public Sans"/>
                <a:sym typeface="Public Sans"/>
              </a:rPr>
              <a:t>Overview Of Our Proposal</a:t>
            </a:r>
            <a:endParaRPr b="1" sz="3600">
              <a:solidFill>
                <a:srgbClr val="15666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6F1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9"/>
          <p:cNvSpPr txBox="1"/>
          <p:nvPr/>
        </p:nvSpPr>
        <p:spPr>
          <a:xfrm>
            <a:off x="0" y="0"/>
            <a:ext cx="5103900" cy="1329900"/>
          </a:xfrm>
          <a:prstGeom prst="rect">
            <a:avLst/>
          </a:prstGeom>
          <a:solidFill>
            <a:srgbClr val="B8D2E4"/>
          </a:solidFill>
          <a:ln cap="flat" cmpd="sng" w="9525">
            <a:solidFill>
              <a:srgbClr val="156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5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15666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 Case</a:t>
            </a:r>
            <a:r>
              <a:rPr lang="en" sz="3000">
                <a:solidFill>
                  <a:srgbClr val="15666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1</a:t>
            </a:r>
            <a:r>
              <a:rPr lang="en" sz="3000">
                <a:solidFill>
                  <a:srgbClr val="15666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r>
              <a:rPr lang="en" sz="3000">
                <a:solidFill>
                  <a:srgbClr val="15666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Current Appointment Reminders and Cancellation</a:t>
            </a:r>
            <a:endParaRPr sz="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9" name="Google Shape;169;p29"/>
          <p:cNvSpPr txBox="1"/>
          <p:nvPr/>
        </p:nvSpPr>
        <p:spPr>
          <a:xfrm>
            <a:off x="121800" y="1514700"/>
            <a:ext cx="4982100" cy="3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ID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0001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Priority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High - Addressing No-Shows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Actors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Patient, Hospital Staff 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Description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use case outlines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procedures for contacting patients before scheduled appointments to confirm attendance, as well as the MyChart cancellation process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Trigger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b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Upcoming  appointment (approaching within 7 days). 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b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Type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Temporal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Preconditions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○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Patient appointment is in the hospital’s scheduling system.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○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Contact details (email, phone number) for the patient are available in the system.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170" name="Google Shape;170;p29"/>
          <p:cNvSpPr txBox="1"/>
          <p:nvPr/>
        </p:nvSpPr>
        <p:spPr>
          <a:xfrm>
            <a:off x="5303700" y="93150"/>
            <a:ext cx="3840300" cy="4957200"/>
          </a:xfrm>
          <a:prstGeom prst="rect">
            <a:avLst/>
          </a:prstGeom>
          <a:solidFill>
            <a:srgbClr val="B8D2E4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Current Process</a:t>
            </a:r>
            <a:endParaRPr b="1"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1.System Check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Automated check identifies all appointments within the next 7 days.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2.Retrieve Contact Information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System or staff retrieves patient’s contact info.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3.Send Reminder Notification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A reminder is sent via email, SMS, or automated phone call. EPIC’s patient data can be used to set the frequency of reminders.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4.Confirmation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The reminders sent via MyChart or text often include options to confirm, reschedule, or cancel the appointment with just a few clicks. 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4.a. If patient chooses to cancel, they are asked to provide a reason for cancellation, however, this step is voluntary.</a:t>
            </a:r>
            <a:endParaRPr b="1"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5. Second Reminder (No Response)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If no response, follow-up reminders are automatically sent, usually a day or two before the appointment date. Appointment is not cancelled, even if no response is given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1" name="Google Shape;171;p29"/>
          <p:cNvSpPr txBox="1"/>
          <p:nvPr/>
        </p:nvSpPr>
        <p:spPr>
          <a:xfrm>
            <a:off x="-243975" y="4776450"/>
            <a:ext cx="9487200" cy="1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6F1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0"/>
          <p:cNvSpPr txBox="1"/>
          <p:nvPr/>
        </p:nvSpPr>
        <p:spPr>
          <a:xfrm>
            <a:off x="434100" y="111925"/>
            <a:ext cx="8275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15666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Our Proposal: Appointment Cancellation</a:t>
            </a:r>
            <a:endParaRPr b="1" sz="3600">
              <a:solidFill>
                <a:srgbClr val="15666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77" name="Google Shape;177;p30"/>
          <p:cNvGrpSpPr/>
          <p:nvPr/>
        </p:nvGrpSpPr>
        <p:grpSpPr>
          <a:xfrm>
            <a:off x="668375" y="1144925"/>
            <a:ext cx="8136450" cy="3138591"/>
            <a:chOff x="0" y="-38100"/>
            <a:chExt cx="1722000" cy="1611600"/>
          </a:xfrm>
        </p:grpSpPr>
        <p:sp>
          <p:nvSpPr>
            <p:cNvPr id="178" name="Google Shape;178;p30"/>
            <p:cNvSpPr/>
            <p:nvPr/>
          </p:nvSpPr>
          <p:spPr>
            <a:xfrm>
              <a:off x="0" y="0"/>
              <a:ext cx="1721972" cy="1573495"/>
            </a:xfrm>
            <a:custGeom>
              <a:rect b="b" l="l" r="r" t="t"/>
              <a:pathLst>
                <a:path extrusionOk="0" h="1573495" w="1721972">
                  <a:moveTo>
                    <a:pt x="22008" y="0"/>
                  </a:moveTo>
                  <a:lnTo>
                    <a:pt x="1699964" y="0"/>
                  </a:lnTo>
                  <a:cubicBezTo>
                    <a:pt x="1705801" y="0"/>
                    <a:pt x="1711399" y="2319"/>
                    <a:pt x="1715526" y="6446"/>
                  </a:cubicBezTo>
                  <a:cubicBezTo>
                    <a:pt x="1719654" y="10573"/>
                    <a:pt x="1721972" y="16171"/>
                    <a:pt x="1721972" y="22008"/>
                  </a:cubicBezTo>
                  <a:lnTo>
                    <a:pt x="1721972" y="1551487"/>
                  </a:lnTo>
                  <a:cubicBezTo>
                    <a:pt x="1721972" y="1563642"/>
                    <a:pt x="1712119" y="1573495"/>
                    <a:pt x="1699964" y="1573495"/>
                  </a:cubicBezTo>
                  <a:lnTo>
                    <a:pt x="22008" y="1573495"/>
                  </a:lnTo>
                  <a:cubicBezTo>
                    <a:pt x="16171" y="1573495"/>
                    <a:pt x="10573" y="1571177"/>
                    <a:pt x="6446" y="1567050"/>
                  </a:cubicBezTo>
                  <a:cubicBezTo>
                    <a:pt x="2319" y="1562922"/>
                    <a:pt x="0" y="1557324"/>
                    <a:pt x="0" y="1551487"/>
                  </a:cubicBezTo>
                  <a:lnTo>
                    <a:pt x="0" y="22008"/>
                  </a:lnTo>
                  <a:cubicBezTo>
                    <a:pt x="0" y="16171"/>
                    <a:pt x="2319" y="10573"/>
                    <a:pt x="6446" y="6446"/>
                  </a:cubicBezTo>
                  <a:cubicBezTo>
                    <a:pt x="10573" y="2319"/>
                    <a:pt x="16171" y="0"/>
                    <a:pt x="22008" y="0"/>
                  </a:cubicBezTo>
                  <a:close/>
                </a:path>
              </a:pathLst>
            </a:custGeom>
            <a:solidFill>
              <a:srgbClr val="B8D2E4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" name="Google Shape;179;p30"/>
            <p:cNvSpPr txBox="1"/>
            <p:nvPr/>
          </p:nvSpPr>
          <p:spPr>
            <a:xfrm>
              <a:off x="0" y="-38100"/>
              <a:ext cx="1722000" cy="161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0" name="Google Shape;180;p30"/>
          <p:cNvSpPr txBox="1"/>
          <p:nvPr/>
        </p:nvSpPr>
        <p:spPr>
          <a:xfrm>
            <a:off x="716000" y="1319200"/>
            <a:ext cx="8041200" cy="3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56669"/>
              </a:buClr>
              <a:buSzPts val="2000"/>
              <a:buFont typeface="Times New Roman"/>
              <a:buChar char="●"/>
            </a:pPr>
            <a:r>
              <a:rPr b="1" lang="en" sz="2000">
                <a:solidFill>
                  <a:srgbClr val="15666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Make it mandatory for </a:t>
            </a:r>
            <a:r>
              <a:rPr b="1" lang="en" sz="2000">
                <a:solidFill>
                  <a:srgbClr val="15666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patients to provide a reason for cancellation.</a:t>
            </a:r>
            <a:endParaRPr b="1" sz="2000">
              <a:solidFill>
                <a:srgbClr val="15666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6669"/>
              </a:buClr>
              <a:buSzPts val="2000"/>
              <a:buFont typeface="Times New Roman"/>
              <a:buChar char="○"/>
            </a:pPr>
            <a:r>
              <a:rPr b="1" lang="en" sz="2000">
                <a:solidFill>
                  <a:srgbClr val="15666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will give the hospital feedback in the form of data about why patients are not coming in for appointments. </a:t>
            </a:r>
            <a:endParaRPr b="1" sz="2000">
              <a:solidFill>
                <a:srgbClr val="15666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6669"/>
              </a:buClr>
              <a:buSzPts val="2000"/>
              <a:buFont typeface="Times New Roman"/>
              <a:buChar char="○"/>
            </a:pPr>
            <a:r>
              <a:rPr b="1" lang="en" sz="2000">
                <a:solidFill>
                  <a:srgbClr val="15666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Can be used to assess potential issues</a:t>
            </a:r>
            <a:endParaRPr b="1" sz="2000">
              <a:solidFill>
                <a:srgbClr val="15666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6669"/>
              </a:buClr>
              <a:buSzPts val="2000"/>
              <a:buFont typeface="Times New Roman"/>
              <a:buChar char="○"/>
            </a:pPr>
            <a:r>
              <a:rPr b="1" lang="en" sz="2000">
                <a:solidFill>
                  <a:srgbClr val="15666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Simple process:</a:t>
            </a:r>
            <a:endParaRPr b="1" sz="2000">
              <a:solidFill>
                <a:srgbClr val="15666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6669"/>
              </a:buClr>
              <a:buSzPts val="2000"/>
              <a:buFont typeface="Times New Roman"/>
              <a:buChar char="■"/>
            </a:pPr>
            <a:r>
              <a:rPr b="1" lang="en" sz="2000">
                <a:solidFill>
                  <a:srgbClr val="15666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adds only one extra step to the cancellation process. </a:t>
            </a:r>
            <a:endParaRPr b="1" sz="2000">
              <a:solidFill>
                <a:srgbClr val="15666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8D2E4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1"/>
          <p:cNvSpPr txBox="1"/>
          <p:nvPr/>
        </p:nvSpPr>
        <p:spPr>
          <a:xfrm>
            <a:off x="2264625" y="232375"/>
            <a:ext cx="8739600" cy="8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156669"/>
                </a:solidFill>
                <a:latin typeface="Public Sans"/>
                <a:ea typeface="Public Sans"/>
                <a:cs typeface="Public Sans"/>
                <a:sym typeface="Public Sans"/>
              </a:rPr>
              <a:t>Text</a:t>
            </a:r>
            <a:r>
              <a:rPr b="1" lang="en" sz="3200">
                <a:solidFill>
                  <a:srgbClr val="156669"/>
                </a:solidFill>
                <a:latin typeface="Public Sans"/>
                <a:ea typeface="Public Sans"/>
                <a:cs typeface="Public Sans"/>
                <a:sym typeface="Public Sans"/>
              </a:rPr>
              <a:t>/Call Reminders</a:t>
            </a:r>
            <a:endParaRPr b="1" sz="3200">
              <a:solidFill>
                <a:srgbClr val="156669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86" name="Google Shape;186;p31"/>
          <p:cNvSpPr/>
          <p:nvPr/>
        </p:nvSpPr>
        <p:spPr>
          <a:xfrm>
            <a:off x="102450" y="1034325"/>
            <a:ext cx="5046689" cy="4000536"/>
          </a:xfrm>
          <a:custGeom>
            <a:rect b="b" l="l" r="r" t="t"/>
            <a:pathLst>
              <a:path extrusionOk="0" h="759115" w="2213460">
                <a:moveTo>
                  <a:pt x="16362" y="0"/>
                </a:moveTo>
                <a:lnTo>
                  <a:pt x="2197097" y="0"/>
                </a:lnTo>
                <a:cubicBezTo>
                  <a:pt x="2201437" y="0"/>
                  <a:pt x="2205599" y="1724"/>
                  <a:pt x="2208667" y="4792"/>
                </a:cubicBezTo>
                <a:cubicBezTo>
                  <a:pt x="2211736" y="7861"/>
                  <a:pt x="2213460" y="12023"/>
                  <a:pt x="2213460" y="16362"/>
                </a:cubicBezTo>
                <a:lnTo>
                  <a:pt x="2213460" y="742753"/>
                </a:lnTo>
                <a:cubicBezTo>
                  <a:pt x="2213460" y="747092"/>
                  <a:pt x="2211736" y="751254"/>
                  <a:pt x="2208667" y="754323"/>
                </a:cubicBezTo>
                <a:cubicBezTo>
                  <a:pt x="2205599" y="757391"/>
                  <a:pt x="2201437" y="759115"/>
                  <a:pt x="2197097" y="759115"/>
                </a:cubicBezTo>
                <a:lnTo>
                  <a:pt x="16362" y="759115"/>
                </a:lnTo>
                <a:cubicBezTo>
                  <a:pt x="12023" y="759115"/>
                  <a:pt x="7861" y="757391"/>
                  <a:pt x="4792" y="754323"/>
                </a:cubicBezTo>
                <a:cubicBezTo>
                  <a:pt x="1724" y="751254"/>
                  <a:pt x="0" y="747092"/>
                  <a:pt x="0" y="742753"/>
                </a:cubicBezTo>
                <a:lnTo>
                  <a:pt x="0" y="16362"/>
                </a:lnTo>
                <a:cubicBezTo>
                  <a:pt x="0" y="12023"/>
                  <a:pt x="1724" y="7861"/>
                  <a:pt x="4792" y="4792"/>
                </a:cubicBezTo>
                <a:cubicBezTo>
                  <a:pt x="7861" y="1724"/>
                  <a:pt x="12023" y="0"/>
                  <a:pt x="16362" y="0"/>
                </a:cubicBezTo>
                <a:close/>
              </a:path>
            </a:pathLst>
          </a:custGeom>
          <a:solidFill>
            <a:srgbClr val="FBF6F1"/>
          </a:solidFill>
          <a:ln cap="sq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31"/>
          <p:cNvSpPr txBox="1"/>
          <p:nvPr/>
        </p:nvSpPr>
        <p:spPr>
          <a:xfrm>
            <a:off x="130700" y="1034263"/>
            <a:ext cx="4990200" cy="39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Public Sans"/>
              <a:buChar char="●"/>
            </a:pPr>
            <a:r>
              <a:rPr lang="en" sz="1500">
                <a:latin typeface="Public Sans"/>
                <a:ea typeface="Public Sans"/>
                <a:cs typeface="Public Sans"/>
                <a:sym typeface="Public Sans"/>
              </a:rPr>
              <a:t>We have decided to leave this as an un-automated process.</a:t>
            </a:r>
            <a:endParaRPr sz="1500"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Public Sans"/>
              <a:ea typeface="Public Sans"/>
              <a:cs typeface="Public Sans"/>
              <a:sym typeface="Public Sans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Public Sans"/>
              <a:buChar char="●"/>
            </a:pPr>
            <a:r>
              <a:rPr lang="en" sz="1500">
                <a:latin typeface="Public Sans"/>
                <a:ea typeface="Public Sans"/>
                <a:cs typeface="Public Sans"/>
                <a:sym typeface="Public Sans"/>
              </a:rPr>
              <a:t>With a current no-show rate of 20%, 1 in 5 appointments being missed is a huge financial loss for the hospital.</a:t>
            </a:r>
            <a:endParaRPr sz="1500">
              <a:latin typeface="Public Sans"/>
              <a:ea typeface="Public Sans"/>
              <a:cs typeface="Public Sans"/>
              <a:sym typeface="Public Sans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Font typeface="Public Sans"/>
              <a:buChar char="○"/>
            </a:pPr>
            <a:r>
              <a:rPr lang="en" sz="1500">
                <a:latin typeface="Public Sans"/>
                <a:ea typeface="Public Sans"/>
                <a:cs typeface="Public Sans"/>
                <a:sym typeface="Public Sans"/>
              </a:rPr>
              <a:t>With the profit margin of decreasing the no-show rate to 10% leaves the hospital with the resources to hire an additional front-desk worker.</a:t>
            </a:r>
            <a:endParaRPr sz="1500"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Public Sans"/>
              <a:ea typeface="Public Sans"/>
              <a:cs typeface="Public Sans"/>
              <a:sym typeface="Public Sans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Public Sans"/>
              <a:buChar char="●"/>
            </a:pPr>
            <a:r>
              <a:rPr lang="en" sz="1500">
                <a:latin typeface="Public Sans"/>
                <a:ea typeface="Public Sans"/>
                <a:cs typeface="Public Sans"/>
                <a:sym typeface="Public Sans"/>
              </a:rPr>
              <a:t>This would be on a trial basis to see how much the no-show rate decreases with these updates.</a:t>
            </a:r>
            <a:endParaRPr sz="1500">
              <a:latin typeface="Public Sans"/>
              <a:ea typeface="Public Sans"/>
              <a:cs typeface="Public Sans"/>
              <a:sym typeface="Public Sans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Public Sans"/>
              <a:buChar char="●"/>
            </a:pPr>
            <a:r>
              <a:rPr lang="en" sz="1500">
                <a:latin typeface="Public Sans"/>
                <a:ea typeface="Public Sans"/>
                <a:cs typeface="Public Sans"/>
                <a:sym typeface="Public Sans"/>
              </a:rPr>
              <a:t>This is a process that could be automated in the future, but $22/hr salary is much cheaper than spending thousands on a system that may not be effective.</a:t>
            </a:r>
            <a:endParaRPr sz="1500"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88" name="Google Shape;188;p31"/>
          <p:cNvSpPr/>
          <p:nvPr/>
        </p:nvSpPr>
        <p:spPr>
          <a:xfrm>
            <a:off x="5463150" y="1035100"/>
            <a:ext cx="3469599" cy="4000536"/>
          </a:xfrm>
          <a:custGeom>
            <a:rect b="b" l="l" r="r" t="t"/>
            <a:pathLst>
              <a:path extrusionOk="0" h="759115" w="2213460">
                <a:moveTo>
                  <a:pt x="16362" y="0"/>
                </a:moveTo>
                <a:lnTo>
                  <a:pt x="2197097" y="0"/>
                </a:lnTo>
                <a:cubicBezTo>
                  <a:pt x="2201437" y="0"/>
                  <a:pt x="2205599" y="1724"/>
                  <a:pt x="2208667" y="4792"/>
                </a:cubicBezTo>
                <a:cubicBezTo>
                  <a:pt x="2211736" y="7861"/>
                  <a:pt x="2213460" y="12023"/>
                  <a:pt x="2213460" y="16362"/>
                </a:cubicBezTo>
                <a:lnTo>
                  <a:pt x="2213460" y="742753"/>
                </a:lnTo>
                <a:cubicBezTo>
                  <a:pt x="2213460" y="747092"/>
                  <a:pt x="2211736" y="751254"/>
                  <a:pt x="2208667" y="754323"/>
                </a:cubicBezTo>
                <a:cubicBezTo>
                  <a:pt x="2205599" y="757391"/>
                  <a:pt x="2201437" y="759115"/>
                  <a:pt x="2197097" y="759115"/>
                </a:cubicBezTo>
                <a:lnTo>
                  <a:pt x="16362" y="759115"/>
                </a:lnTo>
                <a:cubicBezTo>
                  <a:pt x="12023" y="759115"/>
                  <a:pt x="7861" y="757391"/>
                  <a:pt x="4792" y="754323"/>
                </a:cubicBezTo>
                <a:cubicBezTo>
                  <a:pt x="1724" y="751254"/>
                  <a:pt x="0" y="747092"/>
                  <a:pt x="0" y="742753"/>
                </a:cubicBezTo>
                <a:lnTo>
                  <a:pt x="0" y="16362"/>
                </a:lnTo>
                <a:cubicBezTo>
                  <a:pt x="0" y="12023"/>
                  <a:pt x="1724" y="7861"/>
                  <a:pt x="4792" y="4792"/>
                </a:cubicBezTo>
                <a:cubicBezTo>
                  <a:pt x="7861" y="1724"/>
                  <a:pt x="12023" y="0"/>
                  <a:pt x="16362" y="0"/>
                </a:cubicBezTo>
                <a:close/>
              </a:path>
            </a:pathLst>
          </a:custGeom>
          <a:solidFill>
            <a:srgbClr val="FBF6F1"/>
          </a:solidFill>
          <a:ln cap="sq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31"/>
          <p:cNvSpPr txBox="1"/>
          <p:nvPr/>
        </p:nvSpPr>
        <p:spPr>
          <a:xfrm>
            <a:off x="5308700" y="491450"/>
            <a:ext cx="3706500" cy="44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ublic Sans"/>
              <a:buChar char="●"/>
            </a:pPr>
            <a:r>
              <a:rPr lang="en" sz="15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The new front-desk worker job </a:t>
            </a:r>
            <a:r>
              <a:rPr lang="en" sz="15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responsibilities</a:t>
            </a:r>
            <a:r>
              <a:rPr lang="en" sz="15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 are:</a:t>
            </a:r>
            <a:endParaRPr sz="15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ublic Sans"/>
              <a:buChar char="○"/>
            </a:pPr>
            <a:r>
              <a:rPr lang="en" sz="15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Sending out texts or calls based on patient preferences, with a follow up message after 24 hours if not given a response.</a:t>
            </a:r>
            <a:endParaRPr sz="15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ublic Sans"/>
              <a:buChar char="○"/>
            </a:pPr>
            <a:r>
              <a:rPr lang="en" sz="15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Monitor the survey responses and run the mail merge extension</a:t>
            </a:r>
            <a:endParaRPr sz="15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ublic Sans"/>
              <a:buChar char="○"/>
            </a:pPr>
            <a:r>
              <a:rPr lang="en" sz="15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Reviewing</a:t>
            </a:r>
            <a:r>
              <a:rPr lang="en" sz="15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 patient attendance history in patient profile</a:t>
            </a:r>
            <a:r>
              <a:rPr lang="en" sz="15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 to enter patients into the raffle</a:t>
            </a:r>
            <a:endParaRPr sz="15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ublic Sans"/>
              <a:buChar char="○"/>
            </a:pPr>
            <a:r>
              <a:rPr lang="en" sz="15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Announcing the monthly raffle dates, and prizes.</a:t>
            </a:r>
            <a:endParaRPr sz="15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pic>
        <p:nvPicPr>
          <p:cNvPr descr="File:Lakeyboy Silhouette.PNG - Wikimedia Commons" id="190" name="Google Shape;190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00250" y="0"/>
            <a:ext cx="995399" cy="1100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ile:Question mark.png - Wikimedia Commons" id="191" name="Google Shape;191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65050" y="555900"/>
            <a:ext cx="265800" cy="469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ile:Lakeyboy Silhouette.PNG - Wikimedia Commons" id="192" name="Google Shape;192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13200" y="0"/>
            <a:ext cx="995399" cy="1100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ile:Question mark.png - Wikimedia Commons" id="193" name="Google Shape;193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78000" y="555900"/>
            <a:ext cx="265800" cy="469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8D2E4"/>
        </a:soli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2"/>
          <p:cNvSpPr txBox="1"/>
          <p:nvPr/>
        </p:nvSpPr>
        <p:spPr>
          <a:xfrm>
            <a:off x="323000" y="209222"/>
            <a:ext cx="3962400" cy="1874100"/>
          </a:xfrm>
          <a:prstGeom prst="rect">
            <a:avLst/>
          </a:prstGeom>
          <a:noFill/>
          <a:ln cap="flat" cmpd="sng" w="9525">
            <a:solidFill>
              <a:srgbClr val="156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156669"/>
                </a:solidFill>
                <a:latin typeface="Public Sans"/>
                <a:ea typeface="Public Sans"/>
                <a:cs typeface="Public Sans"/>
                <a:sym typeface="Public Sans"/>
              </a:rPr>
              <a:t>Use Case 2: Missing an Appointment &amp; the Current Follow-Up Process</a:t>
            </a:r>
            <a:endParaRPr sz="3200">
              <a:solidFill>
                <a:srgbClr val="156669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99" name="Google Shape;199;p32"/>
          <p:cNvSpPr txBox="1"/>
          <p:nvPr/>
        </p:nvSpPr>
        <p:spPr>
          <a:xfrm>
            <a:off x="0" y="2169600"/>
            <a:ext cx="4571100" cy="30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88900" marR="88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ID</a:t>
            </a: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0002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b="1"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Priority</a:t>
            </a: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High - Addressing No-Shows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889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b="1"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b="1"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Actor: </a:t>
            </a: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Hospital Staff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88900" marR="889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</a:pPr>
            <a:r>
              <a:rPr b="1"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Description: </a:t>
            </a: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u</a:t>
            </a: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 case describes the process of patient outreach to those miss their appointments without canceling.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88900" marR="889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</a:pPr>
            <a:r>
              <a:rPr b="1"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Trigger</a:t>
            </a: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Appointment No-Show | </a:t>
            </a:r>
            <a:r>
              <a:rPr b="1"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Type</a:t>
            </a: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External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88900" marR="88900" rtl="0" algn="l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Preconditions: </a:t>
            </a: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Lack of  patient Check-In or Cancellation</a:t>
            </a:r>
            <a:endParaRPr b="1"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0" name="Google Shape;200;p32"/>
          <p:cNvSpPr/>
          <p:nvPr/>
        </p:nvSpPr>
        <p:spPr>
          <a:xfrm>
            <a:off x="4572000" y="102875"/>
            <a:ext cx="4443521" cy="5040524"/>
          </a:xfrm>
          <a:custGeom>
            <a:rect b="b" l="l" r="r" t="t"/>
            <a:pathLst>
              <a:path extrusionOk="0" h="759115" w="2213460">
                <a:moveTo>
                  <a:pt x="16362" y="0"/>
                </a:moveTo>
                <a:lnTo>
                  <a:pt x="2197097" y="0"/>
                </a:lnTo>
                <a:cubicBezTo>
                  <a:pt x="2201437" y="0"/>
                  <a:pt x="2205599" y="1724"/>
                  <a:pt x="2208667" y="4792"/>
                </a:cubicBezTo>
                <a:cubicBezTo>
                  <a:pt x="2211736" y="7861"/>
                  <a:pt x="2213460" y="12023"/>
                  <a:pt x="2213460" y="16362"/>
                </a:cubicBezTo>
                <a:lnTo>
                  <a:pt x="2213460" y="742753"/>
                </a:lnTo>
                <a:cubicBezTo>
                  <a:pt x="2213460" y="747092"/>
                  <a:pt x="2211736" y="751254"/>
                  <a:pt x="2208667" y="754323"/>
                </a:cubicBezTo>
                <a:cubicBezTo>
                  <a:pt x="2205599" y="757391"/>
                  <a:pt x="2201437" y="759115"/>
                  <a:pt x="2197097" y="759115"/>
                </a:cubicBezTo>
                <a:lnTo>
                  <a:pt x="16362" y="759115"/>
                </a:lnTo>
                <a:cubicBezTo>
                  <a:pt x="12023" y="759115"/>
                  <a:pt x="7861" y="757391"/>
                  <a:pt x="4792" y="754323"/>
                </a:cubicBezTo>
                <a:cubicBezTo>
                  <a:pt x="1724" y="751254"/>
                  <a:pt x="0" y="747092"/>
                  <a:pt x="0" y="742753"/>
                </a:cubicBezTo>
                <a:lnTo>
                  <a:pt x="0" y="16362"/>
                </a:lnTo>
                <a:cubicBezTo>
                  <a:pt x="0" y="12023"/>
                  <a:pt x="1724" y="7861"/>
                  <a:pt x="4792" y="4792"/>
                </a:cubicBezTo>
                <a:cubicBezTo>
                  <a:pt x="7861" y="1724"/>
                  <a:pt x="12023" y="0"/>
                  <a:pt x="16362" y="0"/>
                </a:cubicBezTo>
                <a:close/>
              </a:path>
            </a:pathLst>
          </a:custGeom>
          <a:solidFill>
            <a:srgbClr val="FBF6F1"/>
          </a:solidFill>
          <a:ln cap="sq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32"/>
          <p:cNvSpPr txBox="1"/>
          <p:nvPr/>
        </p:nvSpPr>
        <p:spPr>
          <a:xfrm>
            <a:off x="4571975" y="102875"/>
            <a:ext cx="3414000" cy="2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5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156669"/>
                </a:solidFill>
                <a:latin typeface="Public Sans"/>
                <a:ea typeface="Public Sans"/>
                <a:cs typeface="Public Sans"/>
                <a:sym typeface="Public Sans"/>
              </a:rPr>
              <a:t>Current Process</a:t>
            </a:r>
            <a:r>
              <a:rPr b="1" lang="en" sz="1800">
                <a:solidFill>
                  <a:srgbClr val="156669"/>
                </a:solidFill>
                <a:latin typeface="Public Sans"/>
                <a:ea typeface="Public Sans"/>
                <a:cs typeface="Public Sans"/>
                <a:sym typeface="Public Sans"/>
              </a:rPr>
              <a:t>:</a:t>
            </a:r>
            <a:endParaRPr b="1" sz="1800"/>
          </a:p>
        </p:txBody>
      </p:sp>
      <p:sp>
        <p:nvSpPr>
          <p:cNvPr id="202" name="Google Shape;202;p32"/>
          <p:cNvSpPr txBox="1"/>
          <p:nvPr/>
        </p:nvSpPr>
        <p:spPr>
          <a:xfrm>
            <a:off x="4585700" y="368100"/>
            <a:ext cx="4443600" cy="473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AutoNum type="arabicPeriod"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a patient misses an appointment, they are contacted by the hospital's appointment scheduling team. 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AutoNum type="alphaLcPeriod"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Via phone, email, or MyChart notifications. 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AutoNum type="alphaLcPeriod"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Meant to remind the patient of their missed appointment and encourage them to reschedule.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AutoNum type="arabicPeriod"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During the follow-up, staff may inquire about the reason for the missed appointment, </a:t>
            </a:r>
            <a:r>
              <a:rPr b="1"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but a response is not required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AutoNum type="arabicPeriod"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Any reasons for cancellation provided by patients are recorded in MyChart patient profile. 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8D2E4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3"/>
          <p:cNvSpPr txBox="1"/>
          <p:nvPr/>
        </p:nvSpPr>
        <p:spPr>
          <a:xfrm>
            <a:off x="202200" y="232375"/>
            <a:ext cx="8739600" cy="8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156669"/>
                </a:solidFill>
                <a:latin typeface="Public Sans"/>
                <a:ea typeface="Public Sans"/>
                <a:cs typeface="Public Sans"/>
                <a:sym typeface="Public Sans"/>
              </a:rPr>
              <a:t>Our Proposal: Create &amp; Distribute Survey</a:t>
            </a:r>
            <a:endParaRPr b="1" sz="3200">
              <a:solidFill>
                <a:srgbClr val="156669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08" name="Google Shape;208;p33"/>
          <p:cNvSpPr/>
          <p:nvPr/>
        </p:nvSpPr>
        <p:spPr>
          <a:xfrm>
            <a:off x="102450" y="1034325"/>
            <a:ext cx="5046689" cy="3852509"/>
          </a:xfrm>
          <a:custGeom>
            <a:rect b="b" l="l" r="r" t="t"/>
            <a:pathLst>
              <a:path extrusionOk="0" h="759115" w="2213460">
                <a:moveTo>
                  <a:pt x="16362" y="0"/>
                </a:moveTo>
                <a:lnTo>
                  <a:pt x="2197097" y="0"/>
                </a:lnTo>
                <a:cubicBezTo>
                  <a:pt x="2201437" y="0"/>
                  <a:pt x="2205599" y="1724"/>
                  <a:pt x="2208667" y="4792"/>
                </a:cubicBezTo>
                <a:cubicBezTo>
                  <a:pt x="2211736" y="7861"/>
                  <a:pt x="2213460" y="12023"/>
                  <a:pt x="2213460" y="16362"/>
                </a:cubicBezTo>
                <a:lnTo>
                  <a:pt x="2213460" y="742753"/>
                </a:lnTo>
                <a:cubicBezTo>
                  <a:pt x="2213460" y="747092"/>
                  <a:pt x="2211736" y="751254"/>
                  <a:pt x="2208667" y="754323"/>
                </a:cubicBezTo>
                <a:cubicBezTo>
                  <a:pt x="2205599" y="757391"/>
                  <a:pt x="2201437" y="759115"/>
                  <a:pt x="2197097" y="759115"/>
                </a:cubicBezTo>
                <a:lnTo>
                  <a:pt x="16362" y="759115"/>
                </a:lnTo>
                <a:cubicBezTo>
                  <a:pt x="12023" y="759115"/>
                  <a:pt x="7861" y="757391"/>
                  <a:pt x="4792" y="754323"/>
                </a:cubicBezTo>
                <a:cubicBezTo>
                  <a:pt x="1724" y="751254"/>
                  <a:pt x="0" y="747092"/>
                  <a:pt x="0" y="742753"/>
                </a:cubicBezTo>
                <a:lnTo>
                  <a:pt x="0" y="16362"/>
                </a:lnTo>
                <a:cubicBezTo>
                  <a:pt x="0" y="12023"/>
                  <a:pt x="1724" y="7861"/>
                  <a:pt x="4792" y="4792"/>
                </a:cubicBezTo>
                <a:cubicBezTo>
                  <a:pt x="7861" y="1724"/>
                  <a:pt x="12023" y="0"/>
                  <a:pt x="16362" y="0"/>
                </a:cubicBezTo>
                <a:close/>
              </a:path>
            </a:pathLst>
          </a:custGeom>
          <a:solidFill>
            <a:srgbClr val="FBF6F1"/>
          </a:solidFill>
          <a:ln cap="sq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33"/>
          <p:cNvSpPr txBox="1"/>
          <p:nvPr/>
        </p:nvSpPr>
        <p:spPr>
          <a:xfrm>
            <a:off x="158825" y="1034275"/>
            <a:ext cx="4990200" cy="38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Public Sans"/>
                <a:ea typeface="Public Sans"/>
                <a:cs typeface="Public Sans"/>
                <a:sym typeface="Public Sans"/>
              </a:rPr>
              <a:t>Potential Issue</a:t>
            </a:r>
            <a:r>
              <a:rPr lang="en" sz="1600">
                <a:latin typeface="Public Sans"/>
                <a:ea typeface="Public Sans"/>
                <a:cs typeface="Public Sans"/>
                <a:sym typeface="Public Sans"/>
              </a:rPr>
              <a:t>: If patients don’t show up to appointments, they are also unlikely to fill out the survey</a:t>
            </a:r>
            <a:endParaRPr sz="1600"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Public Sans"/>
                <a:ea typeface="Public Sans"/>
                <a:cs typeface="Public Sans"/>
                <a:sym typeface="Public Sans"/>
              </a:rPr>
              <a:t>Potential Solutions</a:t>
            </a:r>
            <a:r>
              <a:rPr lang="en" sz="1600">
                <a:latin typeface="Public Sans"/>
                <a:ea typeface="Public Sans"/>
                <a:cs typeface="Public Sans"/>
                <a:sym typeface="Public Sans"/>
              </a:rPr>
              <a:t>:</a:t>
            </a:r>
            <a:endParaRPr sz="1600">
              <a:latin typeface="Public Sans"/>
              <a:ea typeface="Public Sans"/>
              <a:cs typeface="Public Sans"/>
              <a:sym typeface="Public San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Public Sans"/>
              <a:buChar char="●"/>
            </a:pPr>
            <a:r>
              <a:rPr lang="en" sz="1600">
                <a:latin typeface="Public Sans"/>
                <a:ea typeface="Public Sans"/>
                <a:cs typeface="Public Sans"/>
                <a:sym typeface="Public Sans"/>
              </a:rPr>
              <a:t>Send the survey to all UChicago Hospital patients, no only those that did not show up to their appointment</a:t>
            </a:r>
            <a:endParaRPr sz="1600">
              <a:latin typeface="Public Sans"/>
              <a:ea typeface="Public Sans"/>
              <a:cs typeface="Public Sans"/>
              <a:sym typeface="Public San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Public Sans"/>
              <a:buChar char="●"/>
            </a:pPr>
            <a:r>
              <a:rPr lang="en" sz="1600">
                <a:latin typeface="Public Sans"/>
                <a:ea typeface="Public Sans"/>
                <a:cs typeface="Public Sans"/>
                <a:sym typeface="Public Sans"/>
              </a:rPr>
              <a:t>Work with UChicago Laboratory Schools (Middle &amp; High School) teachers to have their students fill out the survey.</a:t>
            </a:r>
            <a:endParaRPr sz="1600">
              <a:latin typeface="Public Sans"/>
              <a:ea typeface="Public Sans"/>
              <a:cs typeface="Public Sans"/>
              <a:sym typeface="Public Sans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Font typeface="Public Sans"/>
              <a:buChar char="○"/>
            </a:pPr>
            <a:r>
              <a:rPr lang="en" sz="1600">
                <a:latin typeface="Public Sans"/>
                <a:ea typeface="Public Sans"/>
                <a:cs typeface="Public Sans"/>
                <a:sym typeface="Public Sans"/>
              </a:rPr>
              <a:t>Similar demographic</a:t>
            </a:r>
            <a:endParaRPr sz="1600">
              <a:latin typeface="Public Sans"/>
              <a:ea typeface="Public Sans"/>
              <a:cs typeface="Public Sans"/>
              <a:sym typeface="Public Sans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Font typeface="Public Sans"/>
              <a:buChar char="○"/>
            </a:pPr>
            <a:r>
              <a:rPr lang="en" sz="1600">
                <a:latin typeface="Public Sans"/>
                <a:ea typeface="Public Sans"/>
                <a:cs typeface="Public Sans"/>
                <a:sym typeface="Public Sans"/>
              </a:rPr>
              <a:t>Use student responses as a representative sample</a:t>
            </a:r>
            <a:endParaRPr sz="1600"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10" name="Google Shape;210;p33"/>
          <p:cNvSpPr/>
          <p:nvPr/>
        </p:nvSpPr>
        <p:spPr>
          <a:xfrm>
            <a:off x="5463150" y="1035100"/>
            <a:ext cx="3469599" cy="3852509"/>
          </a:xfrm>
          <a:custGeom>
            <a:rect b="b" l="l" r="r" t="t"/>
            <a:pathLst>
              <a:path extrusionOk="0" h="759115" w="2213460">
                <a:moveTo>
                  <a:pt x="16362" y="0"/>
                </a:moveTo>
                <a:lnTo>
                  <a:pt x="2197097" y="0"/>
                </a:lnTo>
                <a:cubicBezTo>
                  <a:pt x="2201437" y="0"/>
                  <a:pt x="2205599" y="1724"/>
                  <a:pt x="2208667" y="4792"/>
                </a:cubicBezTo>
                <a:cubicBezTo>
                  <a:pt x="2211736" y="7861"/>
                  <a:pt x="2213460" y="12023"/>
                  <a:pt x="2213460" y="16362"/>
                </a:cubicBezTo>
                <a:lnTo>
                  <a:pt x="2213460" y="742753"/>
                </a:lnTo>
                <a:cubicBezTo>
                  <a:pt x="2213460" y="747092"/>
                  <a:pt x="2211736" y="751254"/>
                  <a:pt x="2208667" y="754323"/>
                </a:cubicBezTo>
                <a:cubicBezTo>
                  <a:pt x="2205599" y="757391"/>
                  <a:pt x="2201437" y="759115"/>
                  <a:pt x="2197097" y="759115"/>
                </a:cubicBezTo>
                <a:lnTo>
                  <a:pt x="16362" y="759115"/>
                </a:lnTo>
                <a:cubicBezTo>
                  <a:pt x="12023" y="759115"/>
                  <a:pt x="7861" y="757391"/>
                  <a:pt x="4792" y="754323"/>
                </a:cubicBezTo>
                <a:cubicBezTo>
                  <a:pt x="1724" y="751254"/>
                  <a:pt x="0" y="747092"/>
                  <a:pt x="0" y="742753"/>
                </a:cubicBezTo>
                <a:lnTo>
                  <a:pt x="0" y="16362"/>
                </a:lnTo>
                <a:cubicBezTo>
                  <a:pt x="0" y="12023"/>
                  <a:pt x="1724" y="7861"/>
                  <a:pt x="4792" y="4792"/>
                </a:cubicBezTo>
                <a:cubicBezTo>
                  <a:pt x="7861" y="1724"/>
                  <a:pt x="12023" y="0"/>
                  <a:pt x="16362" y="0"/>
                </a:cubicBezTo>
                <a:close/>
              </a:path>
            </a:pathLst>
          </a:custGeom>
          <a:solidFill>
            <a:srgbClr val="FBF6F1"/>
          </a:solidFill>
          <a:ln cap="sq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33"/>
          <p:cNvSpPr txBox="1"/>
          <p:nvPr/>
        </p:nvSpPr>
        <p:spPr>
          <a:xfrm>
            <a:off x="5460750" y="1034950"/>
            <a:ext cx="3469500" cy="38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ublic Sans"/>
              <a:buChar char="●"/>
            </a:pPr>
            <a:r>
              <a:rPr lang="en" sz="20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Use data gathered in the survey for future communication with patients.</a:t>
            </a:r>
            <a:endParaRPr sz="20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ublic Sans"/>
              <a:buChar char="●"/>
            </a:pPr>
            <a:r>
              <a:rPr lang="en" sz="20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Based on patient responses, send personalized information and resources.</a:t>
            </a:r>
            <a:endParaRPr sz="20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8D2E4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4"/>
          <p:cNvSpPr txBox="1"/>
          <p:nvPr/>
        </p:nvSpPr>
        <p:spPr>
          <a:xfrm>
            <a:off x="202200" y="232375"/>
            <a:ext cx="8739600" cy="8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156669"/>
                </a:solidFill>
                <a:latin typeface="Public Sans"/>
                <a:ea typeface="Public Sans"/>
                <a:cs typeface="Public Sans"/>
                <a:sym typeface="Public Sans"/>
              </a:rPr>
              <a:t>Survey &amp; Spreadsheet</a:t>
            </a:r>
            <a:endParaRPr b="1" sz="3200">
              <a:solidFill>
                <a:srgbClr val="156669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pic>
        <p:nvPicPr>
          <p:cNvPr id="217" name="Google Shape;217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7025" y="1147625"/>
            <a:ext cx="7689950" cy="1026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34"/>
          <p:cNvSpPr txBox="1"/>
          <p:nvPr/>
        </p:nvSpPr>
        <p:spPr>
          <a:xfrm>
            <a:off x="807850" y="1232100"/>
            <a:ext cx="7609200" cy="11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rgbClr val="333435"/>
                </a:solidFill>
                <a:latin typeface="Public Sans"/>
                <a:ea typeface="Public Sans"/>
                <a:cs typeface="Public Sans"/>
                <a:sym typeface="Public Sans"/>
              </a:rPr>
              <a:t>Survey: </a:t>
            </a:r>
            <a:r>
              <a:rPr lang="en" sz="1500" u="sng">
                <a:solidFill>
                  <a:schemeClr val="hlink"/>
                </a:solidFill>
                <a:latin typeface="Public Sans"/>
                <a:ea typeface="Public Sans"/>
                <a:cs typeface="Public Sans"/>
                <a:sym typeface="Public Sans"/>
                <a:hlinkClick r:id="rId4"/>
              </a:rPr>
              <a:t>https://docs.google.com/forms/d/1pJyHo4KvusXb_rNxqflGxAxBjrvNzBHT4RHsA7SsgVA/edit</a:t>
            </a:r>
            <a:r>
              <a:rPr lang="en" sz="1500">
                <a:solidFill>
                  <a:srgbClr val="333435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endParaRPr sz="15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pic>
        <p:nvPicPr>
          <p:cNvPr id="219" name="Google Shape;219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7025" y="3548575"/>
            <a:ext cx="7689950" cy="102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7025" y="2348100"/>
            <a:ext cx="7689950" cy="1026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34"/>
          <p:cNvSpPr txBox="1"/>
          <p:nvPr/>
        </p:nvSpPr>
        <p:spPr>
          <a:xfrm>
            <a:off x="772975" y="2400300"/>
            <a:ext cx="7689900" cy="102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333435"/>
                </a:solidFill>
                <a:latin typeface="Public Sans"/>
                <a:ea typeface="Public Sans"/>
                <a:cs typeface="Public Sans"/>
                <a:sym typeface="Public Sans"/>
              </a:rPr>
              <a:t>Spreadsheet:</a:t>
            </a:r>
            <a:endParaRPr sz="1500">
              <a:solidFill>
                <a:srgbClr val="333435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" sz="1500" u="sng">
                <a:solidFill>
                  <a:schemeClr val="hlink"/>
                </a:solidFill>
                <a:latin typeface="Public Sans"/>
                <a:ea typeface="Public Sans"/>
                <a:cs typeface="Public Sans"/>
                <a:sym typeface="Public Sans"/>
                <a:hlinkClick r:id="rId5"/>
              </a:rPr>
              <a:t>https://docs.google.com/spreadsheets/d/1F1VwmP1eyeN1x0ebljlni4-3VIO-9AEv1lSTXusZlrs/edit?usp=sharing</a:t>
            </a:r>
            <a:r>
              <a:rPr lang="en" sz="1500">
                <a:solidFill>
                  <a:srgbClr val="333435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endParaRPr sz="1500">
              <a:solidFill>
                <a:srgbClr val="333435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22" name="Google Shape;222;p34"/>
          <p:cNvSpPr txBox="1"/>
          <p:nvPr/>
        </p:nvSpPr>
        <p:spPr>
          <a:xfrm>
            <a:off x="692275" y="3638225"/>
            <a:ext cx="7689900" cy="8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Email Response: </a:t>
            </a:r>
            <a:r>
              <a:rPr lang="en" sz="1500" u="sng">
                <a:solidFill>
                  <a:schemeClr val="hlink"/>
                </a:solidFill>
                <a:latin typeface="Public Sans"/>
                <a:ea typeface="Public Sans"/>
                <a:cs typeface="Public Sans"/>
                <a:sym typeface="Public Sans"/>
                <a:hlinkClick r:id="rId6"/>
              </a:rPr>
              <a:t>https://drive.google.com/file/d/18m1UyqnD_9f50QJKrMi__ShIiZ9l7xgo/view?usp=sharing</a:t>
            </a:r>
            <a:r>
              <a:rPr lang="en" sz="15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endParaRPr sz="15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8D2E4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Google Shape;227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883025"/>
            <a:ext cx="9144001" cy="3377459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35"/>
          <p:cNvSpPr txBox="1"/>
          <p:nvPr/>
        </p:nvSpPr>
        <p:spPr>
          <a:xfrm>
            <a:off x="1816200" y="237650"/>
            <a:ext cx="5951100" cy="7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3200">
                <a:solidFill>
                  <a:srgbClr val="156669"/>
                </a:solidFill>
                <a:latin typeface="Public Sans"/>
                <a:ea typeface="Public Sans"/>
                <a:cs typeface="Public Sans"/>
                <a:sym typeface="Public Sans"/>
              </a:rPr>
              <a:t>Automated </a:t>
            </a:r>
            <a:r>
              <a:rPr b="1" lang="en" sz="3200">
                <a:solidFill>
                  <a:srgbClr val="156669"/>
                </a:solidFill>
                <a:latin typeface="Public Sans"/>
                <a:ea typeface="Public Sans"/>
                <a:cs typeface="Public Sans"/>
                <a:sym typeface="Public Sans"/>
              </a:rPr>
              <a:t>Email Response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8D2E4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3" name="Google Shape;233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621819"/>
            <a:ext cx="9144001" cy="4521681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36"/>
          <p:cNvSpPr txBox="1"/>
          <p:nvPr/>
        </p:nvSpPr>
        <p:spPr>
          <a:xfrm>
            <a:off x="2148450" y="0"/>
            <a:ext cx="4847100" cy="5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3200">
                <a:solidFill>
                  <a:srgbClr val="156669"/>
                </a:solidFill>
                <a:latin typeface="Public Sans"/>
                <a:ea typeface="Public Sans"/>
                <a:cs typeface="Public Sans"/>
                <a:sym typeface="Public Sans"/>
              </a:rPr>
              <a:t>Yet Another Mail Merge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8D2E4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7"/>
          <p:cNvSpPr txBox="1"/>
          <p:nvPr/>
        </p:nvSpPr>
        <p:spPr>
          <a:xfrm>
            <a:off x="0" y="8"/>
            <a:ext cx="3962400" cy="1418700"/>
          </a:xfrm>
          <a:prstGeom prst="rect">
            <a:avLst/>
          </a:prstGeom>
          <a:noFill/>
          <a:ln cap="flat" cmpd="sng" w="9525">
            <a:solidFill>
              <a:srgbClr val="156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5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156669"/>
                </a:solidFill>
                <a:latin typeface="Public Sans"/>
                <a:ea typeface="Public Sans"/>
                <a:cs typeface="Public Sans"/>
                <a:sym typeface="Public Sans"/>
              </a:rPr>
              <a:t>Use Case 3:  Gather Patient </a:t>
            </a:r>
            <a:r>
              <a:rPr b="1" lang="en" sz="3200">
                <a:solidFill>
                  <a:srgbClr val="156669"/>
                </a:solidFill>
                <a:latin typeface="Public Sans"/>
                <a:ea typeface="Public Sans"/>
                <a:cs typeface="Public Sans"/>
                <a:sym typeface="Public Sans"/>
              </a:rPr>
              <a:t>Attendance</a:t>
            </a:r>
            <a:r>
              <a:rPr b="1" lang="en" sz="3200">
                <a:solidFill>
                  <a:srgbClr val="156669"/>
                </a:solidFill>
                <a:latin typeface="Public Sans"/>
                <a:ea typeface="Public Sans"/>
                <a:cs typeface="Public Sans"/>
                <a:sym typeface="Public Sans"/>
              </a:rPr>
              <a:t> History in EPIC</a:t>
            </a:r>
            <a:endParaRPr b="1" sz="3200">
              <a:solidFill>
                <a:srgbClr val="156669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40" name="Google Shape;240;p37"/>
          <p:cNvSpPr txBox="1"/>
          <p:nvPr/>
        </p:nvSpPr>
        <p:spPr>
          <a:xfrm>
            <a:off x="0" y="1745375"/>
            <a:ext cx="3962400" cy="33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88900" marR="88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</a:t>
            </a:r>
            <a:r>
              <a:rPr lang="e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0003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b="1"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Priority</a:t>
            </a: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High - Addressing No-Shows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88900" marR="889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b="1" lang="e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Actor: </a:t>
            </a:r>
            <a:r>
              <a:rPr lang="e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Hospital Staff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88900" marR="889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</a:pPr>
            <a:r>
              <a:rPr b="1" lang="e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Description: </a:t>
            </a: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 case describes the current process of gathering patient attendance history using EPIC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88900" marR="889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</a:pPr>
            <a:r>
              <a:rPr b="1" lang="e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Trigger</a:t>
            </a:r>
            <a:r>
              <a:rPr lang="e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Staff needs to know patient attendance history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88900" marR="889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</a:pPr>
            <a:r>
              <a:rPr b="1" lang="e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Type</a:t>
            </a:r>
            <a:r>
              <a:rPr lang="e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Temporal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88900" marR="88900" rtl="0" algn="l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  <a:buSzPts val="1100"/>
              <a:buNone/>
            </a:pPr>
            <a:r>
              <a:rPr b="1" lang="e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Preconditions: </a:t>
            </a:r>
            <a:r>
              <a:rPr lang="e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Patient data is present in EPIC</a:t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37"/>
          <p:cNvSpPr/>
          <p:nvPr/>
        </p:nvSpPr>
        <p:spPr>
          <a:xfrm>
            <a:off x="3962400" y="102875"/>
            <a:ext cx="5179496" cy="4947532"/>
          </a:xfrm>
          <a:custGeom>
            <a:rect b="b" l="l" r="r" t="t"/>
            <a:pathLst>
              <a:path extrusionOk="0" h="759115" w="2213460">
                <a:moveTo>
                  <a:pt x="16362" y="0"/>
                </a:moveTo>
                <a:lnTo>
                  <a:pt x="2197097" y="0"/>
                </a:lnTo>
                <a:cubicBezTo>
                  <a:pt x="2201437" y="0"/>
                  <a:pt x="2205599" y="1724"/>
                  <a:pt x="2208667" y="4792"/>
                </a:cubicBezTo>
                <a:cubicBezTo>
                  <a:pt x="2211736" y="7861"/>
                  <a:pt x="2213460" y="12023"/>
                  <a:pt x="2213460" y="16362"/>
                </a:cubicBezTo>
                <a:lnTo>
                  <a:pt x="2213460" y="742753"/>
                </a:lnTo>
                <a:cubicBezTo>
                  <a:pt x="2213460" y="747092"/>
                  <a:pt x="2211736" y="751254"/>
                  <a:pt x="2208667" y="754323"/>
                </a:cubicBezTo>
                <a:cubicBezTo>
                  <a:pt x="2205599" y="757391"/>
                  <a:pt x="2201437" y="759115"/>
                  <a:pt x="2197097" y="759115"/>
                </a:cubicBezTo>
                <a:lnTo>
                  <a:pt x="16362" y="759115"/>
                </a:lnTo>
                <a:cubicBezTo>
                  <a:pt x="12023" y="759115"/>
                  <a:pt x="7861" y="757391"/>
                  <a:pt x="4792" y="754323"/>
                </a:cubicBezTo>
                <a:cubicBezTo>
                  <a:pt x="1724" y="751254"/>
                  <a:pt x="0" y="747092"/>
                  <a:pt x="0" y="742753"/>
                </a:cubicBezTo>
                <a:lnTo>
                  <a:pt x="0" y="16362"/>
                </a:lnTo>
                <a:cubicBezTo>
                  <a:pt x="0" y="12023"/>
                  <a:pt x="1724" y="7861"/>
                  <a:pt x="4792" y="4792"/>
                </a:cubicBezTo>
                <a:cubicBezTo>
                  <a:pt x="7861" y="1724"/>
                  <a:pt x="12023" y="0"/>
                  <a:pt x="16362" y="0"/>
                </a:cubicBezTo>
                <a:close/>
              </a:path>
            </a:pathLst>
          </a:custGeom>
          <a:solidFill>
            <a:srgbClr val="FBF6F1"/>
          </a:solidFill>
          <a:ln cap="sq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37"/>
          <p:cNvSpPr txBox="1"/>
          <p:nvPr/>
        </p:nvSpPr>
        <p:spPr>
          <a:xfrm>
            <a:off x="4258125" y="102875"/>
            <a:ext cx="3414000" cy="2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5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156669"/>
                </a:solidFill>
                <a:latin typeface="Public Sans"/>
                <a:ea typeface="Public Sans"/>
                <a:cs typeface="Public Sans"/>
                <a:sym typeface="Public Sans"/>
              </a:rPr>
              <a:t>Current Process</a:t>
            </a:r>
            <a:r>
              <a:rPr b="1" lang="en" sz="1800">
                <a:solidFill>
                  <a:srgbClr val="156669"/>
                </a:solidFill>
                <a:latin typeface="Public Sans"/>
                <a:ea typeface="Public Sans"/>
                <a:cs typeface="Public Sans"/>
                <a:sym typeface="Public Sans"/>
              </a:rPr>
              <a:t>:</a:t>
            </a:r>
            <a:endParaRPr b="1" sz="1800"/>
          </a:p>
        </p:txBody>
      </p:sp>
      <p:sp>
        <p:nvSpPr>
          <p:cNvPr id="243" name="Google Shape;243;p37"/>
          <p:cNvSpPr txBox="1"/>
          <p:nvPr/>
        </p:nvSpPr>
        <p:spPr>
          <a:xfrm>
            <a:off x="3962400" y="102875"/>
            <a:ext cx="5179500" cy="46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88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AutoNum type="arabicPeriod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When an appointment is scheduled (by staff or patients), details are entered into EPIC scheduling system (EpicCare)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AutoNum type="arabicPeriod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 generates a unique appointment ID and stores appointment in patient schedule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AutoNum type="arabicPeriod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When the patient arrives for their appointment, they check in with the front desk, their identity is verified, and the visit is marked “arrived” / “checked-in”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AutoNum type="arabicPeriod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Attendance status is assigned: “Completed”, “No Show”, “Canceled”. Status is updated by front desk staff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AutoNum type="arabicPeriod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patient reschedules, new appointment is generated in the system 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AutoNum type="arabicPeriod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Attendance history is stored as part of patient data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AutoNum type="arabicPeriod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No-show data can be tracked by department, period of time, and patient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8D2E4"/>
        </a:solidFill>
      </p:bgPr>
    </p:bg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8"/>
          <p:cNvSpPr txBox="1"/>
          <p:nvPr/>
        </p:nvSpPr>
        <p:spPr>
          <a:xfrm>
            <a:off x="670775" y="1643564"/>
            <a:ext cx="3897300" cy="20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457200" marR="0" rtl="0" algn="l">
              <a:lnSpc>
                <a:spcPct val="163000"/>
              </a:lnSpc>
              <a:spcBef>
                <a:spcPts val="0"/>
              </a:spcBef>
              <a:spcAft>
                <a:spcPts val="0"/>
              </a:spcAft>
              <a:buClr>
                <a:srgbClr val="156669"/>
              </a:buClr>
              <a:buSzPts val="1800"/>
              <a:buChar char="●"/>
            </a:pPr>
            <a:r>
              <a:rPr b="1" lang="en" sz="1800">
                <a:solidFill>
                  <a:srgbClr val="156669"/>
                </a:solidFill>
              </a:rPr>
              <a:t>Use EPIC Patient Attendance history to enter patients into a raffle</a:t>
            </a:r>
            <a:endParaRPr b="1" sz="1800">
              <a:solidFill>
                <a:srgbClr val="156669"/>
              </a:solidFill>
            </a:endParaRPr>
          </a:p>
          <a:p>
            <a:pPr indent="-342900" lvl="0" marL="457200" marR="0" rtl="0" algn="l">
              <a:lnSpc>
                <a:spcPct val="163000"/>
              </a:lnSpc>
              <a:spcBef>
                <a:spcPts val="0"/>
              </a:spcBef>
              <a:spcAft>
                <a:spcPts val="0"/>
              </a:spcAft>
              <a:buClr>
                <a:srgbClr val="156669"/>
              </a:buClr>
              <a:buSzPts val="1800"/>
              <a:buChar char="●"/>
            </a:pPr>
            <a:r>
              <a:rPr b="1" lang="en" sz="1800">
                <a:solidFill>
                  <a:srgbClr val="156669"/>
                </a:solidFill>
              </a:rPr>
              <a:t>Create monthly posters and graphics to promote the raffle</a:t>
            </a:r>
            <a:endParaRPr b="1" sz="1800">
              <a:solidFill>
                <a:srgbClr val="156669"/>
              </a:solidFill>
            </a:endParaRPr>
          </a:p>
        </p:txBody>
      </p:sp>
      <p:sp>
        <p:nvSpPr>
          <p:cNvPr id="249" name="Google Shape;249;p38"/>
          <p:cNvSpPr/>
          <p:nvPr/>
        </p:nvSpPr>
        <p:spPr>
          <a:xfrm>
            <a:off x="670775" y="188525"/>
            <a:ext cx="7802447" cy="1218380"/>
          </a:xfrm>
          <a:custGeom>
            <a:rect b="b" l="l" r="r" t="t"/>
            <a:pathLst>
              <a:path extrusionOk="0" h="759115" w="2213460">
                <a:moveTo>
                  <a:pt x="16362" y="0"/>
                </a:moveTo>
                <a:lnTo>
                  <a:pt x="2197097" y="0"/>
                </a:lnTo>
                <a:cubicBezTo>
                  <a:pt x="2201437" y="0"/>
                  <a:pt x="2205599" y="1724"/>
                  <a:pt x="2208667" y="4792"/>
                </a:cubicBezTo>
                <a:cubicBezTo>
                  <a:pt x="2211736" y="7861"/>
                  <a:pt x="2213460" y="12023"/>
                  <a:pt x="2213460" y="16362"/>
                </a:cubicBezTo>
                <a:lnTo>
                  <a:pt x="2213460" y="742753"/>
                </a:lnTo>
                <a:cubicBezTo>
                  <a:pt x="2213460" y="747092"/>
                  <a:pt x="2211736" y="751254"/>
                  <a:pt x="2208667" y="754323"/>
                </a:cubicBezTo>
                <a:cubicBezTo>
                  <a:pt x="2205599" y="757391"/>
                  <a:pt x="2201437" y="759115"/>
                  <a:pt x="2197097" y="759115"/>
                </a:cubicBezTo>
                <a:lnTo>
                  <a:pt x="16362" y="759115"/>
                </a:lnTo>
                <a:cubicBezTo>
                  <a:pt x="12023" y="759115"/>
                  <a:pt x="7861" y="757391"/>
                  <a:pt x="4792" y="754323"/>
                </a:cubicBezTo>
                <a:cubicBezTo>
                  <a:pt x="1724" y="751254"/>
                  <a:pt x="0" y="747092"/>
                  <a:pt x="0" y="742753"/>
                </a:cubicBezTo>
                <a:lnTo>
                  <a:pt x="0" y="16362"/>
                </a:lnTo>
                <a:cubicBezTo>
                  <a:pt x="0" y="12023"/>
                  <a:pt x="1724" y="7861"/>
                  <a:pt x="4792" y="4792"/>
                </a:cubicBezTo>
                <a:cubicBezTo>
                  <a:pt x="7861" y="1724"/>
                  <a:pt x="12023" y="0"/>
                  <a:pt x="16362" y="0"/>
                </a:cubicBezTo>
                <a:close/>
              </a:path>
            </a:pathLst>
          </a:custGeom>
          <a:solidFill>
            <a:srgbClr val="FBF6F1"/>
          </a:solidFill>
          <a:ln cap="sq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38"/>
          <p:cNvSpPr txBox="1"/>
          <p:nvPr/>
        </p:nvSpPr>
        <p:spPr>
          <a:xfrm>
            <a:off x="1050000" y="325450"/>
            <a:ext cx="7044000" cy="8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4000">
                <a:solidFill>
                  <a:srgbClr val="156669"/>
                </a:solidFill>
                <a:latin typeface="Public Sans"/>
                <a:ea typeface="Public Sans"/>
                <a:cs typeface="Public Sans"/>
                <a:sym typeface="Public Sans"/>
              </a:rPr>
              <a:t>Attendance Incentive: Raffle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1" name="Google Shape;251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92105" y="1583378"/>
            <a:ext cx="1588770" cy="10124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25469" y="2806326"/>
            <a:ext cx="1588775" cy="1004521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3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92105" y="2772295"/>
            <a:ext cx="1588775" cy="1030294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3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184987" y="3698939"/>
            <a:ext cx="1588775" cy="1588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3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892100" y="4001671"/>
            <a:ext cx="1588775" cy="10591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3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477875" y="3963753"/>
            <a:ext cx="1588775" cy="1059171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38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966472" y="4029012"/>
            <a:ext cx="1506750" cy="100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38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966475" y="1628874"/>
            <a:ext cx="1506750" cy="959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8D2E4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3" name="Google Shape;263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8D2E4"/>
        </a:solidFill>
      </p:bgPr>
    </p:bg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8" name="Google Shape;268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0"/>
            <a:ext cx="8727311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40"/>
          <p:cNvSpPr txBox="1"/>
          <p:nvPr/>
        </p:nvSpPr>
        <p:spPr>
          <a:xfrm>
            <a:off x="6369000" y="4254300"/>
            <a:ext cx="2510700" cy="8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Raffle ERD</a:t>
            </a:r>
            <a:endParaRPr sz="40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8D2E4"/>
        </a:solidFill>
      </p:bgPr>
    </p:bg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41"/>
          <p:cNvSpPr txBox="1"/>
          <p:nvPr/>
        </p:nvSpPr>
        <p:spPr>
          <a:xfrm>
            <a:off x="670775" y="1643564"/>
            <a:ext cx="3897300" cy="16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457200" marR="0" rtl="0" algn="l">
              <a:lnSpc>
                <a:spcPct val="163000"/>
              </a:lnSpc>
              <a:spcBef>
                <a:spcPts val="0"/>
              </a:spcBef>
              <a:spcAft>
                <a:spcPts val="0"/>
              </a:spcAft>
              <a:buClr>
                <a:srgbClr val="156669"/>
              </a:buClr>
              <a:buSzPts val="1800"/>
              <a:buChar char="●"/>
            </a:pPr>
            <a:r>
              <a:rPr b="1" lang="en" sz="1800">
                <a:solidFill>
                  <a:srgbClr val="156669"/>
                </a:solidFill>
              </a:rPr>
              <a:t>Physician Salary </a:t>
            </a:r>
            <a:endParaRPr b="1" sz="1800">
              <a:solidFill>
                <a:srgbClr val="156669"/>
              </a:solidFill>
            </a:endParaRPr>
          </a:p>
          <a:p>
            <a:pPr indent="-342900" lvl="0" marL="457200" marR="0" rtl="0" algn="l">
              <a:lnSpc>
                <a:spcPct val="163000"/>
              </a:lnSpc>
              <a:spcBef>
                <a:spcPts val="0"/>
              </a:spcBef>
              <a:spcAft>
                <a:spcPts val="0"/>
              </a:spcAft>
              <a:buClr>
                <a:srgbClr val="156669"/>
              </a:buClr>
              <a:buSzPts val="1800"/>
              <a:buChar char="●"/>
            </a:pPr>
            <a:r>
              <a:rPr b="1" lang="en" sz="1800">
                <a:solidFill>
                  <a:srgbClr val="156669"/>
                </a:solidFill>
              </a:rPr>
              <a:t>Profit loss from inability to book other patients</a:t>
            </a:r>
            <a:endParaRPr b="1" sz="1800">
              <a:solidFill>
                <a:srgbClr val="156669"/>
              </a:solidFill>
            </a:endParaRPr>
          </a:p>
          <a:p>
            <a:pPr indent="-342900" lvl="0" marL="457200" marR="0" rtl="0" algn="l">
              <a:lnSpc>
                <a:spcPct val="163000"/>
              </a:lnSpc>
              <a:spcBef>
                <a:spcPts val="0"/>
              </a:spcBef>
              <a:spcAft>
                <a:spcPts val="0"/>
              </a:spcAft>
              <a:buClr>
                <a:srgbClr val="156669"/>
              </a:buClr>
              <a:buSzPts val="1800"/>
              <a:buChar char="●"/>
            </a:pPr>
            <a:r>
              <a:rPr b="1" lang="en" sz="1800">
                <a:solidFill>
                  <a:srgbClr val="156669"/>
                </a:solidFill>
              </a:rPr>
              <a:t>Inefficient resource utilization</a:t>
            </a:r>
            <a:endParaRPr b="1" sz="1800">
              <a:solidFill>
                <a:srgbClr val="156669"/>
              </a:solidFill>
            </a:endParaRPr>
          </a:p>
        </p:txBody>
      </p:sp>
      <p:sp>
        <p:nvSpPr>
          <p:cNvPr id="275" name="Google Shape;275;p41"/>
          <p:cNvSpPr/>
          <p:nvPr/>
        </p:nvSpPr>
        <p:spPr>
          <a:xfrm>
            <a:off x="670775" y="188525"/>
            <a:ext cx="3895690" cy="1218380"/>
          </a:xfrm>
          <a:custGeom>
            <a:rect b="b" l="l" r="r" t="t"/>
            <a:pathLst>
              <a:path extrusionOk="0" h="759115" w="2213460">
                <a:moveTo>
                  <a:pt x="16362" y="0"/>
                </a:moveTo>
                <a:lnTo>
                  <a:pt x="2197097" y="0"/>
                </a:lnTo>
                <a:cubicBezTo>
                  <a:pt x="2201437" y="0"/>
                  <a:pt x="2205599" y="1724"/>
                  <a:pt x="2208667" y="4792"/>
                </a:cubicBezTo>
                <a:cubicBezTo>
                  <a:pt x="2211736" y="7861"/>
                  <a:pt x="2213460" y="12023"/>
                  <a:pt x="2213460" y="16362"/>
                </a:cubicBezTo>
                <a:lnTo>
                  <a:pt x="2213460" y="742753"/>
                </a:lnTo>
                <a:cubicBezTo>
                  <a:pt x="2213460" y="747092"/>
                  <a:pt x="2211736" y="751254"/>
                  <a:pt x="2208667" y="754323"/>
                </a:cubicBezTo>
                <a:cubicBezTo>
                  <a:pt x="2205599" y="757391"/>
                  <a:pt x="2201437" y="759115"/>
                  <a:pt x="2197097" y="759115"/>
                </a:cubicBezTo>
                <a:lnTo>
                  <a:pt x="16362" y="759115"/>
                </a:lnTo>
                <a:cubicBezTo>
                  <a:pt x="12023" y="759115"/>
                  <a:pt x="7861" y="757391"/>
                  <a:pt x="4792" y="754323"/>
                </a:cubicBezTo>
                <a:cubicBezTo>
                  <a:pt x="1724" y="751254"/>
                  <a:pt x="0" y="747092"/>
                  <a:pt x="0" y="742753"/>
                </a:cubicBezTo>
                <a:lnTo>
                  <a:pt x="0" y="16362"/>
                </a:lnTo>
                <a:cubicBezTo>
                  <a:pt x="0" y="12023"/>
                  <a:pt x="1724" y="7861"/>
                  <a:pt x="4792" y="4792"/>
                </a:cubicBezTo>
                <a:cubicBezTo>
                  <a:pt x="7861" y="1724"/>
                  <a:pt x="12023" y="0"/>
                  <a:pt x="16362" y="0"/>
                </a:cubicBezTo>
                <a:close/>
              </a:path>
            </a:pathLst>
          </a:custGeom>
          <a:solidFill>
            <a:srgbClr val="FBF6F1"/>
          </a:solidFill>
          <a:ln cap="sq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41"/>
          <p:cNvSpPr txBox="1"/>
          <p:nvPr/>
        </p:nvSpPr>
        <p:spPr>
          <a:xfrm>
            <a:off x="1050000" y="325450"/>
            <a:ext cx="3384600" cy="10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3000">
                <a:solidFill>
                  <a:srgbClr val="156669"/>
                </a:solidFill>
                <a:latin typeface="Public Sans"/>
                <a:ea typeface="Public Sans"/>
                <a:cs typeface="Public Sans"/>
                <a:sym typeface="Public Sans"/>
              </a:rPr>
              <a:t>Lost Revenue From No-Shows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41"/>
          <p:cNvSpPr/>
          <p:nvPr/>
        </p:nvSpPr>
        <p:spPr>
          <a:xfrm>
            <a:off x="4728750" y="188525"/>
            <a:ext cx="3895690" cy="1218380"/>
          </a:xfrm>
          <a:custGeom>
            <a:rect b="b" l="l" r="r" t="t"/>
            <a:pathLst>
              <a:path extrusionOk="0" h="759115" w="2213460">
                <a:moveTo>
                  <a:pt x="16362" y="0"/>
                </a:moveTo>
                <a:lnTo>
                  <a:pt x="2197097" y="0"/>
                </a:lnTo>
                <a:cubicBezTo>
                  <a:pt x="2201437" y="0"/>
                  <a:pt x="2205599" y="1724"/>
                  <a:pt x="2208667" y="4792"/>
                </a:cubicBezTo>
                <a:cubicBezTo>
                  <a:pt x="2211736" y="7861"/>
                  <a:pt x="2213460" y="12023"/>
                  <a:pt x="2213460" y="16362"/>
                </a:cubicBezTo>
                <a:lnTo>
                  <a:pt x="2213460" y="742753"/>
                </a:lnTo>
                <a:cubicBezTo>
                  <a:pt x="2213460" y="747092"/>
                  <a:pt x="2211736" y="751254"/>
                  <a:pt x="2208667" y="754323"/>
                </a:cubicBezTo>
                <a:cubicBezTo>
                  <a:pt x="2205599" y="757391"/>
                  <a:pt x="2201437" y="759115"/>
                  <a:pt x="2197097" y="759115"/>
                </a:cubicBezTo>
                <a:lnTo>
                  <a:pt x="16362" y="759115"/>
                </a:lnTo>
                <a:cubicBezTo>
                  <a:pt x="12023" y="759115"/>
                  <a:pt x="7861" y="757391"/>
                  <a:pt x="4792" y="754323"/>
                </a:cubicBezTo>
                <a:cubicBezTo>
                  <a:pt x="1724" y="751254"/>
                  <a:pt x="0" y="747092"/>
                  <a:pt x="0" y="742753"/>
                </a:cubicBezTo>
                <a:lnTo>
                  <a:pt x="0" y="16362"/>
                </a:lnTo>
                <a:cubicBezTo>
                  <a:pt x="0" y="12023"/>
                  <a:pt x="1724" y="7861"/>
                  <a:pt x="4792" y="4792"/>
                </a:cubicBezTo>
                <a:cubicBezTo>
                  <a:pt x="7861" y="1724"/>
                  <a:pt x="12023" y="0"/>
                  <a:pt x="16362" y="0"/>
                </a:cubicBezTo>
                <a:close/>
              </a:path>
            </a:pathLst>
          </a:custGeom>
          <a:solidFill>
            <a:srgbClr val="FBF6F1"/>
          </a:solidFill>
          <a:ln cap="sq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lnSpc>
                <a:spcPct val="95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3000">
                <a:solidFill>
                  <a:srgbClr val="156669"/>
                </a:solidFill>
                <a:latin typeface="Public Sans"/>
                <a:ea typeface="Public Sans"/>
                <a:cs typeface="Public Sans"/>
                <a:sym typeface="Public Sans"/>
              </a:rPr>
              <a:t> Raffle Costs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41"/>
          <p:cNvSpPr txBox="1"/>
          <p:nvPr/>
        </p:nvSpPr>
        <p:spPr>
          <a:xfrm>
            <a:off x="4792000" y="1643575"/>
            <a:ext cx="3832500" cy="31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63000"/>
              </a:lnSpc>
              <a:spcBef>
                <a:spcPts val="0"/>
              </a:spcBef>
              <a:spcAft>
                <a:spcPts val="0"/>
              </a:spcAft>
              <a:buClr>
                <a:srgbClr val="156669"/>
              </a:buClr>
              <a:buSzPts val="1800"/>
              <a:buChar char="●"/>
            </a:pPr>
            <a:r>
              <a:rPr b="1" lang="en" sz="1800">
                <a:solidFill>
                  <a:srgbClr val="156669"/>
                </a:solidFill>
              </a:rPr>
              <a:t>Low cost: only a set amount of winners. </a:t>
            </a:r>
            <a:endParaRPr b="1" sz="1800">
              <a:solidFill>
                <a:srgbClr val="156669"/>
              </a:solidFill>
            </a:endParaRPr>
          </a:p>
          <a:p>
            <a:pPr indent="-342900" lvl="0" marL="457200" rtl="0" algn="l">
              <a:lnSpc>
                <a:spcPct val="163000"/>
              </a:lnSpc>
              <a:spcBef>
                <a:spcPts val="0"/>
              </a:spcBef>
              <a:spcAft>
                <a:spcPts val="0"/>
              </a:spcAft>
              <a:buClr>
                <a:srgbClr val="156669"/>
              </a:buClr>
              <a:buSzPts val="1800"/>
              <a:buChar char="●"/>
            </a:pPr>
            <a:r>
              <a:rPr b="1" lang="en" sz="1800">
                <a:solidFill>
                  <a:srgbClr val="156669"/>
                </a:solidFill>
              </a:rPr>
              <a:t>Raffle prizes are affordable</a:t>
            </a:r>
            <a:endParaRPr b="1" sz="1800">
              <a:solidFill>
                <a:srgbClr val="156669"/>
              </a:solidFill>
            </a:endParaRPr>
          </a:p>
          <a:p>
            <a:pPr indent="-342900" lvl="0" marL="457200" rtl="0" algn="l">
              <a:lnSpc>
                <a:spcPct val="163000"/>
              </a:lnSpc>
              <a:spcBef>
                <a:spcPts val="0"/>
              </a:spcBef>
              <a:spcAft>
                <a:spcPts val="0"/>
              </a:spcAft>
              <a:buClr>
                <a:srgbClr val="156669"/>
              </a:buClr>
              <a:buSzPts val="1800"/>
              <a:buChar char="●"/>
            </a:pPr>
            <a:r>
              <a:rPr b="1" lang="en" sz="1800">
                <a:solidFill>
                  <a:srgbClr val="156669"/>
                </a:solidFill>
              </a:rPr>
              <a:t>Raffle may make patients more likely to attend appointments, decreasing revenue lost from no-shows</a:t>
            </a:r>
            <a:endParaRPr b="1" sz="1800">
              <a:solidFill>
                <a:srgbClr val="156669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8D2E4"/>
        </a:solid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42"/>
          <p:cNvSpPr txBox="1"/>
          <p:nvPr/>
        </p:nvSpPr>
        <p:spPr>
          <a:xfrm>
            <a:off x="1684825" y="193600"/>
            <a:ext cx="5973300" cy="5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5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156669"/>
                </a:solidFill>
                <a:latin typeface="Public Sans"/>
                <a:ea typeface="Public Sans"/>
                <a:cs typeface="Public Sans"/>
                <a:sym typeface="Public Sans"/>
              </a:rPr>
              <a:t>Functional Requirements</a:t>
            </a:r>
            <a:endParaRPr sz="700"/>
          </a:p>
        </p:txBody>
      </p:sp>
      <p:grpSp>
        <p:nvGrpSpPr>
          <p:cNvPr id="284" name="Google Shape;284;p42"/>
          <p:cNvGrpSpPr/>
          <p:nvPr/>
        </p:nvGrpSpPr>
        <p:grpSpPr>
          <a:xfrm>
            <a:off x="1684801" y="974225"/>
            <a:ext cx="5973243" cy="1278095"/>
            <a:chOff x="0" y="-38100"/>
            <a:chExt cx="2213460" cy="797215"/>
          </a:xfrm>
        </p:grpSpPr>
        <p:sp>
          <p:nvSpPr>
            <p:cNvPr id="285" name="Google Shape;285;p42"/>
            <p:cNvSpPr/>
            <p:nvPr/>
          </p:nvSpPr>
          <p:spPr>
            <a:xfrm>
              <a:off x="0" y="0"/>
              <a:ext cx="2213460" cy="759115"/>
            </a:xfrm>
            <a:custGeom>
              <a:rect b="b" l="l" r="r" t="t"/>
              <a:pathLst>
                <a:path extrusionOk="0" h="759115" w="2213460">
                  <a:moveTo>
                    <a:pt x="16362" y="0"/>
                  </a:moveTo>
                  <a:lnTo>
                    <a:pt x="2197097" y="0"/>
                  </a:lnTo>
                  <a:cubicBezTo>
                    <a:pt x="2201437" y="0"/>
                    <a:pt x="2205599" y="1724"/>
                    <a:pt x="2208667" y="4792"/>
                  </a:cubicBezTo>
                  <a:cubicBezTo>
                    <a:pt x="2211736" y="7861"/>
                    <a:pt x="2213460" y="12023"/>
                    <a:pt x="2213460" y="16362"/>
                  </a:cubicBezTo>
                  <a:lnTo>
                    <a:pt x="2213460" y="742753"/>
                  </a:lnTo>
                  <a:cubicBezTo>
                    <a:pt x="2213460" y="747092"/>
                    <a:pt x="2211736" y="751254"/>
                    <a:pt x="2208667" y="754323"/>
                  </a:cubicBezTo>
                  <a:cubicBezTo>
                    <a:pt x="2205599" y="757391"/>
                    <a:pt x="2201437" y="759115"/>
                    <a:pt x="2197097" y="759115"/>
                  </a:cubicBezTo>
                  <a:lnTo>
                    <a:pt x="16362" y="759115"/>
                  </a:lnTo>
                  <a:cubicBezTo>
                    <a:pt x="12023" y="759115"/>
                    <a:pt x="7861" y="757391"/>
                    <a:pt x="4792" y="754323"/>
                  </a:cubicBezTo>
                  <a:cubicBezTo>
                    <a:pt x="1724" y="751254"/>
                    <a:pt x="0" y="747092"/>
                    <a:pt x="0" y="742753"/>
                  </a:cubicBezTo>
                  <a:lnTo>
                    <a:pt x="0" y="16362"/>
                  </a:lnTo>
                  <a:cubicBezTo>
                    <a:pt x="0" y="12023"/>
                    <a:pt x="1724" y="7861"/>
                    <a:pt x="4792" y="4792"/>
                  </a:cubicBezTo>
                  <a:cubicBezTo>
                    <a:pt x="7861" y="1724"/>
                    <a:pt x="12023" y="0"/>
                    <a:pt x="16362" y="0"/>
                  </a:cubicBezTo>
                  <a:close/>
                </a:path>
              </a:pathLst>
            </a:custGeom>
            <a:solidFill>
              <a:srgbClr val="FBF6F1"/>
            </a:solidFill>
            <a:ln cap="sq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" name="Google Shape;286;p42"/>
            <p:cNvSpPr txBox="1"/>
            <p:nvPr/>
          </p:nvSpPr>
          <p:spPr>
            <a:xfrm>
              <a:off x="0" y="-38100"/>
              <a:ext cx="2213400" cy="79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87" name="Google Shape;287;p42"/>
          <p:cNvSpPr txBox="1"/>
          <p:nvPr/>
        </p:nvSpPr>
        <p:spPr>
          <a:xfrm>
            <a:off x="1776625" y="1434875"/>
            <a:ext cx="7467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5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5000" u="none" cap="none" strike="noStrike">
                <a:solidFill>
                  <a:srgbClr val="156669"/>
                </a:solidFill>
                <a:latin typeface="Public Sans"/>
                <a:ea typeface="Public Sans"/>
                <a:cs typeface="Public Sans"/>
                <a:sym typeface="Public Sans"/>
              </a:rPr>
              <a:t>01</a:t>
            </a:r>
            <a:endParaRPr sz="700"/>
          </a:p>
        </p:txBody>
      </p:sp>
      <p:sp>
        <p:nvSpPr>
          <p:cNvPr id="288" name="Google Shape;288;p42"/>
          <p:cNvSpPr txBox="1"/>
          <p:nvPr/>
        </p:nvSpPr>
        <p:spPr>
          <a:xfrm>
            <a:off x="2953350" y="1366775"/>
            <a:ext cx="4238700" cy="9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6669"/>
              </a:buClr>
              <a:buSzPts val="1500"/>
              <a:buChar char="●"/>
            </a:pPr>
            <a:r>
              <a:rPr lang="en" sz="1500">
                <a:solidFill>
                  <a:srgbClr val="156669"/>
                </a:solidFill>
              </a:rPr>
              <a:t>Survey responses should be automatically entered into a linked google spreadsheet. </a:t>
            </a:r>
            <a:endParaRPr sz="1500">
              <a:solidFill>
                <a:srgbClr val="156669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6669"/>
              </a:buClr>
              <a:buSzPts val="1500"/>
              <a:buChar char="●"/>
            </a:pPr>
            <a:r>
              <a:rPr lang="en" sz="1500">
                <a:solidFill>
                  <a:srgbClr val="156669"/>
                </a:solidFill>
              </a:rPr>
              <a:t>Survey responses should be timestamped. </a:t>
            </a:r>
            <a:endParaRPr sz="1500">
              <a:solidFill>
                <a:srgbClr val="156669"/>
              </a:solidFill>
            </a:endParaRPr>
          </a:p>
          <a:p>
            <a:pPr indent="0" lvl="0" marL="0" marR="0" rtl="0" algn="l">
              <a:lnSpc>
                <a:spcPct val="16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156669"/>
              </a:solidFill>
            </a:endParaRPr>
          </a:p>
        </p:txBody>
      </p:sp>
      <p:sp>
        <p:nvSpPr>
          <p:cNvPr id="289" name="Google Shape;289;p42"/>
          <p:cNvSpPr txBox="1"/>
          <p:nvPr/>
        </p:nvSpPr>
        <p:spPr>
          <a:xfrm>
            <a:off x="1684825" y="1034675"/>
            <a:ext cx="3237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156669"/>
                </a:solidFill>
              </a:rPr>
              <a:t>(Survey) Data Collection &amp; Storage</a:t>
            </a:r>
            <a:endParaRPr b="1">
              <a:solidFill>
                <a:srgbClr val="156669"/>
              </a:solidFill>
            </a:endParaRPr>
          </a:p>
        </p:txBody>
      </p:sp>
      <p:grpSp>
        <p:nvGrpSpPr>
          <p:cNvPr id="290" name="Google Shape;290;p42"/>
          <p:cNvGrpSpPr/>
          <p:nvPr/>
        </p:nvGrpSpPr>
        <p:grpSpPr>
          <a:xfrm>
            <a:off x="1684801" y="2268388"/>
            <a:ext cx="5973243" cy="1278095"/>
            <a:chOff x="0" y="-38100"/>
            <a:chExt cx="2213460" cy="797215"/>
          </a:xfrm>
        </p:grpSpPr>
        <p:sp>
          <p:nvSpPr>
            <p:cNvPr id="291" name="Google Shape;291;p42"/>
            <p:cNvSpPr/>
            <p:nvPr/>
          </p:nvSpPr>
          <p:spPr>
            <a:xfrm>
              <a:off x="0" y="0"/>
              <a:ext cx="2213460" cy="759115"/>
            </a:xfrm>
            <a:custGeom>
              <a:rect b="b" l="l" r="r" t="t"/>
              <a:pathLst>
                <a:path extrusionOk="0" h="759115" w="2213460">
                  <a:moveTo>
                    <a:pt x="16362" y="0"/>
                  </a:moveTo>
                  <a:lnTo>
                    <a:pt x="2197097" y="0"/>
                  </a:lnTo>
                  <a:cubicBezTo>
                    <a:pt x="2201437" y="0"/>
                    <a:pt x="2205599" y="1724"/>
                    <a:pt x="2208667" y="4792"/>
                  </a:cubicBezTo>
                  <a:cubicBezTo>
                    <a:pt x="2211736" y="7861"/>
                    <a:pt x="2213460" y="12023"/>
                    <a:pt x="2213460" y="16362"/>
                  </a:cubicBezTo>
                  <a:lnTo>
                    <a:pt x="2213460" y="742753"/>
                  </a:lnTo>
                  <a:cubicBezTo>
                    <a:pt x="2213460" y="747092"/>
                    <a:pt x="2211736" y="751254"/>
                    <a:pt x="2208667" y="754323"/>
                  </a:cubicBezTo>
                  <a:cubicBezTo>
                    <a:pt x="2205599" y="757391"/>
                    <a:pt x="2201437" y="759115"/>
                    <a:pt x="2197097" y="759115"/>
                  </a:cubicBezTo>
                  <a:lnTo>
                    <a:pt x="16362" y="759115"/>
                  </a:lnTo>
                  <a:cubicBezTo>
                    <a:pt x="12023" y="759115"/>
                    <a:pt x="7861" y="757391"/>
                    <a:pt x="4792" y="754323"/>
                  </a:cubicBezTo>
                  <a:cubicBezTo>
                    <a:pt x="1724" y="751254"/>
                    <a:pt x="0" y="747092"/>
                    <a:pt x="0" y="742753"/>
                  </a:cubicBezTo>
                  <a:lnTo>
                    <a:pt x="0" y="16362"/>
                  </a:lnTo>
                  <a:cubicBezTo>
                    <a:pt x="0" y="12023"/>
                    <a:pt x="1724" y="7861"/>
                    <a:pt x="4792" y="4792"/>
                  </a:cubicBezTo>
                  <a:cubicBezTo>
                    <a:pt x="7861" y="1724"/>
                    <a:pt x="12023" y="0"/>
                    <a:pt x="16362" y="0"/>
                  </a:cubicBezTo>
                  <a:close/>
                </a:path>
              </a:pathLst>
            </a:custGeom>
            <a:solidFill>
              <a:srgbClr val="FBF6F1"/>
            </a:solidFill>
            <a:ln cap="sq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" name="Google Shape;292;p42"/>
            <p:cNvSpPr txBox="1"/>
            <p:nvPr/>
          </p:nvSpPr>
          <p:spPr>
            <a:xfrm>
              <a:off x="0" y="-38100"/>
              <a:ext cx="2213400" cy="79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3" name="Google Shape;293;p42"/>
          <p:cNvGrpSpPr/>
          <p:nvPr/>
        </p:nvGrpSpPr>
        <p:grpSpPr>
          <a:xfrm>
            <a:off x="1684851" y="3641100"/>
            <a:ext cx="5973243" cy="1278095"/>
            <a:chOff x="0" y="-38100"/>
            <a:chExt cx="2213460" cy="797215"/>
          </a:xfrm>
        </p:grpSpPr>
        <p:sp>
          <p:nvSpPr>
            <p:cNvPr id="294" name="Google Shape;294;p42"/>
            <p:cNvSpPr/>
            <p:nvPr/>
          </p:nvSpPr>
          <p:spPr>
            <a:xfrm>
              <a:off x="0" y="0"/>
              <a:ext cx="2213460" cy="759115"/>
            </a:xfrm>
            <a:custGeom>
              <a:rect b="b" l="l" r="r" t="t"/>
              <a:pathLst>
                <a:path extrusionOk="0" h="759115" w="2213460">
                  <a:moveTo>
                    <a:pt x="16362" y="0"/>
                  </a:moveTo>
                  <a:lnTo>
                    <a:pt x="2197097" y="0"/>
                  </a:lnTo>
                  <a:cubicBezTo>
                    <a:pt x="2201437" y="0"/>
                    <a:pt x="2205599" y="1724"/>
                    <a:pt x="2208667" y="4792"/>
                  </a:cubicBezTo>
                  <a:cubicBezTo>
                    <a:pt x="2211736" y="7861"/>
                    <a:pt x="2213460" y="12023"/>
                    <a:pt x="2213460" y="16362"/>
                  </a:cubicBezTo>
                  <a:lnTo>
                    <a:pt x="2213460" y="742753"/>
                  </a:lnTo>
                  <a:cubicBezTo>
                    <a:pt x="2213460" y="747092"/>
                    <a:pt x="2211736" y="751254"/>
                    <a:pt x="2208667" y="754323"/>
                  </a:cubicBezTo>
                  <a:cubicBezTo>
                    <a:pt x="2205599" y="757391"/>
                    <a:pt x="2201437" y="759115"/>
                    <a:pt x="2197097" y="759115"/>
                  </a:cubicBezTo>
                  <a:lnTo>
                    <a:pt x="16362" y="759115"/>
                  </a:lnTo>
                  <a:cubicBezTo>
                    <a:pt x="12023" y="759115"/>
                    <a:pt x="7861" y="757391"/>
                    <a:pt x="4792" y="754323"/>
                  </a:cubicBezTo>
                  <a:cubicBezTo>
                    <a:pt x="1724" y="751254"/>
                    <a:pt x="0" y="747092"/>
                    <a:pt x="0" y="742753"/>
                  </a:cubicBezTo>
                  <a:lnTo>
                    <a:pt x="0" y="16362"/>
                  </a:lnTo>
                  <a:cubicBezTo>
                    <a:pt x="0" y="12023"/>
                    <a:pt x="1724" y="7861"/>
                    <a:pt x="4792" y="4792"/>
                  </a:cubicBezTo>
                  <a:cubicBezTo>
                    <a:pt x="7861" y="1724"/>
                    <a:pt x="12023" y="0"/>
                    <a:pt x="16362" y="0"/>
                  </a:cubicBezTo>
                  <a:close/>
                </a:path>
              </a:pathLst>
            </a:custGeom>
            <a:solidFill>
              <a:srgbClr val="FBF6F1"/>
            </a:solidFill>
            <a:ln cap="sq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" name="Google Shape;295;p42"/>
            <p:cNvSpPr txBox="1"/>
            <p:nvPr/>
          </p:nvSpPr>
          <p:spPr>
            <a:xfrm>
              <a:off x="0" y="-38100"/>
              <a:ext cx="2213400" cy="79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96" name="Google Shape;296;p42"/>
          <p:cNvSpPr txBox="1"/>
          <p:nvPr/>
        </p:nvSpPr>
        <p:spPr>
          <a:xfrm>
            <a:off x="1701175" y="2571750"/>
            <a:ext cx="954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5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rgbClr val="156669"/>
                </a:solidFill>
                <a:latin typeface="Public Sans"/>
                <a:ea typeface="Public Sans"/>
                <a:cs typeface="Public Sans"/>
                <a:sym typeface="Public Sans"/>
              </a:rPr>
              <a:t>02</a:t>
            </a:r>
            <a:endParaRPr sz="700">
              <a:solidFill>
                <a:schemeClr val="dk1"/>
              </a:solidFill>
            </a:endParaRPr>
          </a:p>
        </p:txBody>
      </p:sp>
      <p:sp>
        <p:nvSpPr>
          <p:cNvPr id="297" name="Google Shape;297;p42"/>
          <p:cNvSpPr txBox="1"/>
          <p:nvPr/>
        </p:nvSpPr>
        <p:spPr>
          <a:xfrm>
            <a:off x="1701175" y="3995800"/>
            <a:ext cx="1059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5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rgbClr val="156669"/>
                </a:solidFill>
                <a:latin typeface="Public Sans"/>
                <a:ea typeface="Public Sans"/>
                <a:cs typeface="Public Sans"/>
                <a:sym typeface="Public Sans"/>
              </a:rPr>
              <a:t>03</a:t>
            </a:r>
            <a:endParaRPr sz="700">
              <a:solidFill>
                <a:schemeClr val="dk1"/>
              </a:solidFill>
            </a:endParaRPr>
          </a:p>
        </p:txBody>
      </p:sp>
      <p:sp>
        <p:nvSpPr>
          <p:cNvPr id="298" name="Google Shape;298;p42"/>
          <p:cNvSpPr txBox="1"/>
          <p:nvPr/>
        </p:nvSpPr>
        <p:spPr>
          <a:xfrm>
            <a:off x="1684800" y="2337888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156669"/>
                </a:solidFill>
              </a:rPr>
              <a:t>Email Response Automation</a:t>
            </a:r>
            <a:endParaRPr b="1">
              <a:solidFill>
                <a:srgbClr val="156669"/>
              </a:solidFill>
            </a:endParaRPr>
          </a:p>
        </p:txBody>
      </p:sp>
      <p:sp>
        <p:nvSpPr>
          <p:cNvPr id="299" name="Google Shape;299;p42"/>
          <p:cNvSpPr txBox="1"/>
          <p:nvPr/>
        </p:nvSpPr>
        <p:spPr>
          <a:xfrm>
            <a:off x="1684800" y="3641100"/>
            <a:ext cx="1059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156669"/>
                </a:solidFill>
              </a:rPr>
              <a:t>Analytics</a:t>
            </a:r>
            <a:endParaRPr b="1">
              <a:solidFill>
                <a:srgbClr val="156669"/>
              </a:solidFill>
            </a:endParaRPr>
          </a:p>
        </p:txBody>
      </p:sp>
      <p:sp>
        <p:nvSpPr>
          <p:cNvPr id="300" name="Google Shape;300;p42"/>
          <p:cNvSpPr txBox="1"/>
          <p:nvPr/>
        </p:nvSpPr>
        <p:spPr>
          <a:xfrm>
            <a:off x="2523350" y="2597538"/>
            <a:ext cx="5427300" cy="7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6669"/>
              </a:buClr>
              <a:buSzPts val="1200"/>
              <a:buChar char="●"/>
            </a:pPr>
            <a:r>
              <a:rPr lang="en" sz="1200">
                <a:solidFill>
                  <a:srgbClr val="156669"/>
                </a:solidFill>
              </a:rPr>
              <a:t>Survey Responses should trigger customized email responses.</a:t>
            </a:r>
            <a:endParaRPr sz="1200">
              <a:solidFill>
                <a:srgbClr val="156669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6669"/>
              </a:buClr>
              <a:buSzPts val="1200"/>
              <a:buChar char="●"/>
            </a:pPr>
            <a:r>
              <a:rPr lang="en" sz="1200">
                <a:solidFill>
                  <a:srgbClr val="156669"/>
                </a:solidFill>
              </a:rPr>
              <a:t>Email responses can be personalized based on survey responses.</a:t>
            </a:r>
            <a:endParaRPr sz="1200">
              <a:solidFill>
                <a:srgbClr val="156669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6669"/>
              </a:buClr>
              <a:buSzPts val="1200"/>
              <a:buChar char="●"/>
            </a:pPr>
            <a:r>
              <a:rPr lang="en" sz="1200">
                <a:solidFill>
                  <a:srgbClr val="156669"/>
                </a:solidFill>
              </a:rPr>
              <a:t>Automate sending email via mail merge extension.</a:t>
            </a:r>
            <a:endParaRPr sz="1200">
              <a:solidFill>
                <a:srgbClr val="156669"/>
              </a:solidFill>
            </a:endParaRPr>
          </a:p>
        </p:txBody>
      </p:sp>
      <p:sp>
        <p:nvSpPr>
          <p:cNvPr id="301" name="Google Shape;301;p42"/>
          <p:cNvSpPr txBox="1"/>
          <p:nvPr/>
        </p:nvSpPr>
        <p:spPr>
          <a:xfrm>
            <a:off x="2458350" y="3893125"/>
            <a:ext cx="5228700" cy="10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6669"/>
              </a:buClr>
              <a:buSzPts val="1200"/>
              <a:buChar char="●"/>
            </a:pPr>
            <a:r>
              <a:rPr lang="en" sz="1200">
                <a:solidFill>
                  <a:srgbClr val="156669"/>
                </a:solidFill>
              </a:rPr>
              <a:t>Set appointment reminder frequency based on patient cancellation/no-show history from EPIC. </a:t>
            </a:r>
            <a:endParaRPr sz="1200">
              <a:solidFill>
                <a:srgbClr val="156669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6669"/>
              </a:buClr>
              <a:buSzPts val="1200"/>
              <a:buChar char="●"/>
            </a:pPr>
            <a:r>
              <a:rPr lang="en" sz="1200">
                <a:solidFill>
                  <a:srgbClr val="156669"/>
                </a:solidFill>
              </a:rPr>
              <a:t>Use EPIC attendance history data to enter patients into raffle.</a:t>
            </a:r>
            <a:endParaRPr sz="1200">
              <a:solidFill>
                <a:srgbClr val="156669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6669"/>
              </a:buClr>
              <a:buSzPts val="1200"/>
              <a:buChar char="●"/>
            </a:pPr>
            <a:r>
              <a:rPr lang="en" sz="1200">
                <a:solidFill>
                  <a:srgbClr val="156669"/>
                </a:solidFill>
              </a:rPr>
              <a:t>Require patients give their reason for cancellation in MyChart</a:t>
            </a:r>
            <a:endParaRPr sz="1200">
              <a:solidFill>
                <a:srgbClr val="156669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8D2E4"/>
        </a:solidFill>
      </p:bgPr>
    </p:bg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43"/>
          <p:cNvSpPr txBox="1"/>
          <p:nvPr/>
        </p:nvSpPr>
        <p:spPr>
          <a:xfrm>
            <a:off x="1187125" y="152450"/>
            <a:ext cx="7108800" cy="5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5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156669"/>
                </a:solidFill>
                <a:latin typeface="Public Sans"/>
                <a:ea typeface="Public Sans"/>
                <a:cs typeface="Public Sans"/>
                <a:sym typeface="Public Sans"/>
              </a:rPr>
              <a:t>Non-Functional Requirements</a:t>
            </a:r>
            <a:endParaRPr sz="700"/>
          </a:p>
        </p:txBody>
      </p:sp>
      <p:grpSp>
        <p:nvGrpSpPr>
          <p:cNvPr id="307" name="Google Shape;307;p43"/>
          <p:cNvGrpSpPr/>
          <p:nvPr/>
        </p:nvGrpSpPr>
        <p:grpSpPr>
          <a:xfrm>
            <a:off x="1187125" y="823874"/>
            <a:ext cx="7739857" cy="923414"/>
            <a:chOff x="0" y="-38100"/>
            <a:chExt cx="2423401" cy="797215"/>
          </a:xfrm>
        </p:grpSpPr>
        <p:sp>
          <p:nvSpPr>
            <p:cNvPr id="308" name="Google Shape;308;p43"/>
            <p:cNvSpPr/>
            <p:nvPr/>
          </p:nvSpPr>
          <p:spPr>
            <a:xfrm>
              <a:off x="0" y="0"/>
              <a:ext cx="2213460" cy="759115"/>
            </a:xfrm>
            <a:custGeom>
              <a:rect b="b" l="l" r="r" t="t"/>
              <a:pathLst>
                <a:path extrusionOk="0" h="759115" w="2213460">
                  <a:moveTo>
                    <a:pt x="16362" y="0"/>
                  </a:moveTo>
                  <a:lnTo>
                    <a:pt x="2197097" y="0"/>
                  </a:lnTo>
                  <a:cubicBezTo>
                    <a:pt x="2201437" y="0"/>
                    <a:pt x="2205599" y="1724"/>
                    <a:pt x="2208667" y="4792"/>
                  </a:cubicBezTo>
                  <a:cubicBezTo>
                    <a:pt x="2211736" y="7861"/>
                    <a:pt x="2213460" y="12023"/>
                    <a:pt x="2213460" y="16362"/>
                  </a:cubicBezTo>
                  <a:lnTo>
                    <a:pt x="2213460" y="742753"/>
                  </a:lnTo>
                  <a:cubicBezTo>
                    <a:pt x="2213460" y="747092"/>
                    <a:pt x="2211736" y="751254"/>
                    <a:pt x="2208667" y="754323"/>
                  </a:cubicBezTo>
                  <a:cubicBezTo>
                    <a:pt x="2205599" y="757391"/>
                    <a:pt x="2201437" y="759115"/>
                    <a:pt x="2197097" y="759115"/>
                  </a:cubicBezTo>
                  <a:lnTo>
                    <a:pt x="16362" y="759115"/>
                  </a:lnTo>
                  <a:cubicBezTo>
                    <a:pt x="12023" y="759115"/>
                    <a:pt x="7861" y="757391"/>
                    <a:pt x="4792" y="754323"/>
                  </a:cubicBezTo>
                  <a:cubicBezTo>
                    <a:pt x="1724" y="751254"/>
                    <a:pt x="0" y="747092"/>
                    <a:pt x="0" y="742753"/>
                  </a:cubicBezTo>
                  <a:lnTo>
                    <a:pt x="0" y="16362"/>
                  </a:lnTo>
                  <a:cubicBezTo>
                    <a:pt x="0" y="12023"/>
                    <a:pt x="1724" y="7861"/>
                    <a:pt x="4792" y="4792"/>
                  </a:cubicBezTo>
                  <a:cubicBezTo>
                    <a:pt x="7861" y="1724"/>
                    <a:pt x="12023" y="0"/>
                    <a:pt x="16362" y="0"/>
                  </a:cubicBezTo>
                  <a:close/>
                </a:path>
              </a:pathLst>
            </a:custGeom>
            <a:solidFill>
              <a:srgbClr val="FBF6F1"/>
            </a:solidFill>
            <a:ln cap="sq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" name="Google Shape;309;p43"/>
            <p:cNvSpPr txBox="1"/>
            <p:nvPr/>
          </p:nvSpPr>
          <p:spPr>
            <a:xfrm>
              <a:off x="1" y="-38100"/>
              <a:ext cx="2423400" cy="79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10" name="Google Shape;310;p43"/>
          <p:cNvGrpSpPr/>
          <p:nvPr/>
        </p:nvGrpSpPr>
        <p:grpSpPr>
          <a:xfrm>
            <a:off x="1172450" y="1826424"/>
            <a:ext cx="7108748" cy="1027291"/>
            <a:chOff x="0" y="-38100"/>
            <a:chExt cx="2213460" cy="797215"/>
          </a:xfrm>
        </p:grpSpPr>
        <p:sp>
          <p:nvSpPr>
            <p:cNvPr id="311" name="Google Shape;311;p43"/>
            <p:cNvSpPr/>
            <p:nvPr/>
          </p:nvSpPr>
          <p:spPr>
            <a:xfrm>
              <a:off x="0" y="0"/>
              <a:ext cx="2213460" cy="759115"/>
            </a:xfrm>
            <a:custGeom>
              <a:rect b="b" l="l" r="r" t="t"/>
              <a:pathLst>
                <a:path extrusionOk="0" h="759115" w="2213460">
                  <a:moveTo>
                    <a:pt x="16362" y="0"/>
                  </a:moveTo>
                  <a:lnTo>
                    <a:pt x="2197097" y="0"/>
                  </a:lnTo>
                  <a:cubicBezTo>
                    <a:pt x="2201437" y="0"/>
                    <a:pt x="2205599" y="1724"/>
                    <a:pt x="2208667" y="4792"/>
                  </a:cubicBezTo>
                  <a:cubicBezTo>
                    <a:pt x="2211736" y="7861"/>
                    <a:pt x="2213460" y="12023"/>
                    <a:pt x="2213460" y="16362"/>
                  </a:cubicBezTo>
                  <a:lnTo>
                    <a:pt x="2213460" y="742753"/>
                  </a:lnTo>
                  <a:cubicBezTo>
                    <a:pt x="2213460" y="747092"/>
                    <a:pt x="2211736" y="751254"/>
                    <a:pt x="2208667" y="754323"/>
                  </a:cubicBezTo>
                  <a:cubicBezTo>
                    <a:pt x="2205599" y="757391"/>
                    <a:pt x="2201437" y="759115"/>
                    <a:pt x="2197097" y="759115"/>
                  </a:cubicBezTo>
                  <a:lnTo>
                    <a:pt x="16362" y="759115"/>
                  </a:lnTo>
                  <a:cubicBezTo>
                    <a:pt x="12023" y="759115"/>
                    <a:pt x="7861" y="757391"/>
                    <a:pt x="4792" y="754323"/>
                  </a:cubicBezTo>
                  <a:cubicBezTo>
                    <a:pt x="1724" y="751254"/>
                    <a:pt x="0" y="747092"/>
                    <a:pt x="0" y="742753"/>
                  </a:cubicBezTo>
                  <a:lnTo>
                    <a:pt x="0" y="16362"/>
                  </a:lnTo>
                  <a:cubicBezTo>
                    <a:pt x="0" y="12023"/>
                    <a:pt x="1724" y="7861"/>
                    <a:pt x="4792" y="4792"/>
                  </a:cubicBezTo>
                  <a:cubicBezTo>
                    <a:pt x="7861" y="1724"/>
                    <a:pt x="12023" y="0"/>
                    <a:pt x="16362" y="0"/>
                  </a:cubicBezTo>
                  <a:close/>
                </a:path>
              </a:pathLst>
            </a:custGeom>
            <a:solidFill>
              <a:srgbClr val="FBF6F1"/>
            </a:solidFill>
            <a:ln cap="sq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" name="Google Shape;312;p43"/>
            <p:cNvSpPr txBox="1"/>
            <p:nvPr/>
          </p:nvSpPr>
          <p:spPr>
            <a:xfrm>
              <a:off x="0" y="-38100"/>
              <a:ext cx="2213400" cy="79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13" name="Google Shape;313;p43"/>
          <p:cNvGrpSpPr/>
          <p:nvPr/>
        </p:nvGrpSpPr>
        <p:grpSpPr>
          <a:xfrm>
            <a:off x="1172450" y="2932850"/>
            <a:ext cx="7108748" cy="1027291"/>
            <a:chOff x="0" y="-38100"/>
            <a:chExt cx="2213460" cy="797215"/>
          </a:xfrm>
        </p:grpSpPr>
        <p:sp>
          <p:nvSpPr>
            <p:cNvPr id="314" name="Google Shape;314;p43"/>
            <p:cNvSpPr/>
            <p:nvPr/>
          </p:nvSpPr>
          <p:spPr>
            <a:xfrm>
              <a:off x="0" y="0"/>
              <a:ext cx="2213460" cy="759115"/>
            </a:xfrm>
            <a:custGeom>
              <a:rect b="b" l="l" r="r" t="t"/>
              <a:pathLst>
                <a:path extrusionOk="0" h="759115" w="2213460">
                  <a:moveTo>
                    <a:pt x="16362" y="0"/>
                  </a:moveTo>
                  <a:lnTo>
                    <a:pt x="2197097" y="0"/>
                  </a:lnTo>
                  <a:cubicBezTo>
                    <a:pt x="2201437" y="0"/>
                    <a:pt x="2205599" y="1724"/>
                    <a:pt x="2208667" y="4792"/>
                  </a:cubicBezTo>
                  <a:cubicBezTo>
                    <a:pt x="2211736" y="7861"/>
                    <a:pt x="2213460" y="12023"/>
                    <a:pt x="2213460" y="16362"/>
                  </a:cubicBezTo>
                  <a:lnTo>
                    <a:pt x="2213460" y="742753"/>
                  </a:lnTo>
                  <a:cubicBezTo>
                    <a:pt x="2213460" y="747092"/>
                    <a:pt x="2211736" y="751254"/>
                    <a:pt x="2208667" y="754323"/>
                  </a:cubicBezTo>
                  <a:cubicBezTo>
                    <a:pt x="2205599" y="757391"/>
                    <a:pt x="2201437" y="759115"/>
                    <a:pt x="2197097" y="759115"/>
                  </a:cubicBezTo>
                  <a:lnTo>
                    <a:pt x="16362" y="759115"/>
                  </a:lnTo>
                  <a:cubicBezTo>
                    <a:pt x="12023" y="759115"/>
                    <a:pt x="7861" y="757391"/>
                    <a:pt x="4792" y="754323"/>
                  </a:cubicBezTo>
                  <a:cubicBezTo>
                    <a:pt x="1724" y="751254"/>
                    <a:pt x="0" y="747092"/>
                    <a:pt x="0" y="742753"/>
                  </a:cubicBezTo>
                  <a:lnTo>
                    <a:pt x="0" y="16362"/>
                  </a:lnTo>
                  <a:cubicBezTo>
                    <a:pt x="0" y="12023"/>
                    <a:pt x="1724" y="7861"/>
                    <a:pt x="4792" y="4792"/>
                  </a:cubicBezTo>
                  <a:cubicBezTo>
                    <a:pt x="7861" y="1724"/>
                    <a:pt x="12023" y="0"/>
                    <a:pt x="16362" y="0"/>
                  </a:cubicBezTo>
                  <a:close/>
                </a:path>
              </a:pathLst>
            </a:custGeom>
            <a:solidFill>
              <a:srgbClr val="FBF6F1"/>
            </a:solidFill>
            <a:ln cap="sq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" name="Google Shape;315;p43"/>
            <p:cNvSpPr txBox="1"/>
            <p:nvPr/>
          </p:nvSpPr>
          <p:spPr>
            <a:xfrm>
              <a:off x="0" y="-38100"/>
              <a:ext cx="2213400" cy="79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16" name="Google Shape;316;p43"/>
          <p:cNvSpPr txBox="1"/>
          <p:nvPr/>
        </p:nvSpPr>
        <p:spPr>
          <a:xfrm>
            <a:off x="1334273" y="3277625"/>
            <a:ext cx="1078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5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5000" u="none" cap="none" strike="noStrike">
                <a:solidFill>
                  <a:srgbClr val="156669"/>
                </a:solidFill>
                <a:latin typeface="Public Sans"/>
                <a:ea typeface="Public Sans"/>
                <a:cs typeface="Public Sans"/>
                <a:sym typeface="Public Sans"/>
              </a:rPr>
              <a:t>03</a:t>
            </a:r>
            <a:endParaRPr sz="700"/>
          </a:p>
        </p:txBody>
      </p:sp>
      <p:sp>
        <p:nvSpPr>
          <p:cNvPr id="317" name="Google Shape;317;p43"/>
          <p:cNvSpPr txBox="1"/>
          <p:nvPr/>
        </p:nvSpPr>
        <p:spPr>
          <a:xfrm>
            <a:off x="2559620" y="3166425"/>
            <a:ext cx="4908600" cy="7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6669"/>
              </a:buClr>
              <a:buSzPts val="1400"/>
              <a:buChar char="●"/>
            </a:pPr>
            <a:r>
              <a:rPr lang="en">
                <a:solidFill>
                  <a:srgbClr val="156669"/>
                </a:solidFill>
              </a:rPr>
              <a:t>System should support multiple devices</a:t>
            </a:r>
            <a:endParaRPr>
              <a:solidFill>
                <a:srgbClr val="156669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6669"/>
              </a:buClr>
              <a:buSzPts val="1400"/>
              <a:buChar char="●"/>
            </a:pPr>
            <a:r>
              <a:rPr lang="en">
                <a:solidFill>
                  <a:srgbClr val="156669"/>
                </a:solidFill>
              </a:rPr>
              <a:t>Multilingual support for automated reminders</a:t>
            </a:r>
            <a:endParaRPr>
              <a:solidFill>
                <a:srgbClr val="156669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6669"/>
              </a:buClr>
              <a:buSzPts val="1400"/>
              <a:buChar char="●"/>
            </a:pPr>
            <a:r>
              <a:rPr lang="en">
                <a:solidFill>
                  <a:srgbClr val="156669"/>
                </a:solidFill>
              </a:rPr>
              <a:t>Available 24/7</a:t>
            </a:r>
            <a:endParaRPr>
              <a:solidFill>
                <a:srgbClr val="156669"/>
              </a:solidFill>
            </a:endParaRPr>
          </a:p>
        </p:txBody>
      </p:sp>
      <p:sp>
        <p:nvSpPr>
          <p:cNvPr id="318" name="Google Shape;318;p43"/>
          <p:cNvSpPr txBox="1"/>
          <p:nvPr/>
        </p:nvSpPr>
        <p:spPr>
          <a:xfrm>
            <a:off x="1334286" y="2186601"/>
            <a:ext cx="91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5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5000" u="none" cap="none" strike="noStrike">
                <a:solidFill>
                  <a:srgbClr val="156669"/>
                </a:solidFill>
                <a:latin typeface="Public Sans"/>
                <a:ea typeface="Public Sans"/>
                <a:cs typeface="Public Sans"/>
                <a:sym typeface="Public Sans"/>
              </a:rPr>
              <a:t>02</a:t>
            </a:r>
            <a:endParaRPr sz="700"/>
          </a:p>
        </p:txBody>
      </p:sp>
      <p:sp>
        <p:nvSpPr>
          <p:cNvPr id="319" name="Google Shape;319;p43"/>
          <p:cNvSpPr txBox="1"/>
          <p:nvPr/>
        </p:nvSpPr>
        <p:spPr>
          <a:xfrm>
            <a:off x="2559625" y="2045288"/>
            <a:ext cx="6071100" cy="7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6669"/>
              </a:buClr>
              <a:buSzPts val="1400"/>
              <a:buChar char="●"/>
            </a:pPr>
            <a:r>
              <a:rPr lang="en">
                <a:solidFill>
                  <a:srgbClr val="156669"/>
                </a:solidFill>
              </a:rPr>
              <a:t>Quick response time</a:t>
            </a:r>
            <a:endParaRPr>
              <a:solidFill>
                <a:srgbClr val="156669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6669"/>
              </a:buClr>
              <a:buSzPts val="1400"/>
              <a:buChar char="●"/>
            </a:pPr>
            <a:r>
              <a:rPr lang="en">
                <a:solidFill>
                  <a:srgbClr val="156669"/>
                </a:solidFill>
              </a:rPr>
              <a:t>New customer information is updated routinely</a:t>
            </a:r>
            <a:endParaRPr>
              <a:solidFill>
                <a:srgbClr val="156669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6669"/>
              </a:buClr>
              <a:buSzPts val="1400"/>
              <a:buChar char="●"/>
            </a:pPr>
            <a:r>
              <a:rPr lang="en">
                <a:solidFill>
                  <a:srgbClr val="156669"/>
                </a:solidFill>
              </a:rPr>
              <a:t>Scalability &amp; ability to handle a large number of users</a:t>
            </a:r>
            <a:endParaRPr>
              <a:solidFill>
                <a:srgbClr val="156669"/>
              </a:solidFill>
            </a:endParaRPr>
          </a:p>
        </p:txBody>
      </p:sp>
      <p:sp>
        <p:nvSpPr>
          <p:cNvPr id="320" name="Google Shape;320;p43"/>
          <p:cNvSpPr txBox="1"/>
          <p:nvPr/>
        </p:nvSpPr>
        <p:spPr>
          <a:xfrm>
            <a:off x="1334275" y="1095575"/>
            <a:ext cx="91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5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5000" u="none" cap="none" strike="noStrike">
                <a:solidFill>
                  <a:srgbClr val="156669"/>
                </a:solidFill>
                <a:latin typeface="Public Sans"/>
                <a:ea typeface="Public Sans"/>
                <a:cs typeface="Public Sans"/>
                <a:sym typeface="Public Sans"/>
              </a:rPr>
              <a:t>01</a:t>
            </a:r>
            <a:endParaRPr sz="700"/>
          </a:p>
        </p:txBody>
      </p:sp>
      <p:sp>
        <p:nvSpPr>
          <p:cNvPr id="321" name="Google Shape;321;p43"/>
          <p:cNvSpPr txBox="1"/>
          <p:nvPr/>
        </p:nvSpPr>
        <p:spPr>
          <a:xfrm>
            <a:off x="2559625" y="991400"/>
            <a:ext cx="5286300" cy="7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6669"/>
              </a:buClr>
              <a:buSzPts val="1400"/>
              <a:buChar char="●"/>
            </a:pPr>
            <a:r>
              <a:rPr lang="en">
                <a:solidFill>
                  <a:srgbClr val="156669"/>
                </a:solidFill>
              </a:rPr>
              <a:t>Web-based system run on any browser</a:t>
            </a:r>
            <a:endParaRPr>
              <a:solidFill>
                <a:srgbClr val="156669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6669"/>
              </a:buClr>
              <a:buSzPts val="1400"/>
              <a:buChar char="●"/>
            </a:pPr>
            <a:r>
              <a:rPr lang="en">
                <a:solidFill>
                  <a:srgbClr val="156669"/>
                </a:solidFill>
              </a:rPr>
              <a:t>Connect to printers wirelessly</a:t>
            </a:r>
            <a:endParaRPr>
              <a:solidFill>
                <a:srgbClr val="156669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6669"/>
              </a:buClr>
              <a:buSzPts val="1400"/>
              <a:buChar char="●"/>
            </a:pPr>
            <a:r>
              <a:rPr lang="en">
                <a:solidFill>
                  <a:srgbClr val="156669"/>
                </a:solidFill>
              </a:rPr>
              <a:t>Must integrate with existing hospital systems</a:t>
            </a:r>
            <a:endParaRPr>
              <a:solidFill>
                <a:srgbClr val="156669"/>
              </a:solidFill>
            </a:endParaRPr>
          </a:p>
        </p:txBody>
      </p:sp>
      <p:grpSp>
        <p:nvGrpSpPr>
          <p:cNvPr id="322" name="Google Shape;322;p43"/>
          <p:cNvGrpSpPr/>
          <p:nvPr/>
        </p:nvGrpSpPr>
        <p:grpSpPr>
          <a:xfrm>
            <a:off x="1172450" y="3967501"/>
            <a:ext cx="7145713" cy="1175972"/>
            <a:chOff x="0" y="-38100"/>
            <a:chExt cx="2213460" cy="797215"/>
          </a:xfrm>
        </p:grpSpPr>
        <p:sp>
          <p:nvSpPr>
            <p:cNvPr id="323" name="Google Shape;323;p43"/>
            <p:cNvSpPr/>
            <p:nvPr/>
          </p:nvSpPr>
          <p:spPr>
            <a:xfrm>
              <a:off x="0" y="0"/>
              <a:ext cx="2213460" cy="759115"/>
            </a:xfrm>
            <a:custGeom>
              <a:rect b="b" l="l" r="r" t="t"/>
              <a:pathLst>
                <a:path extrusionOk="0" h="759115" w="2213460">
                  <a:moveTo>
                    <a:pt x="16362" y="0"/>
                  </a:moveTo>
                  <a:lnTo>
                    <a:pt x="2197097" y="0"/>
                  </a:lnTo>
                  <a:cubicBezTo>
                    <a:pt x="2201437" y="0"/>
                    <a:pt x="2205599" y="1724"/>
                    <a:pt x="2208667" y="4792"/>
                  </a:cubicBezTo>
                  <a:cubicBezTo>
                    <a:pt x="2211736" y="7861"/>
                    <a:pt x="2213460" y="12023"/>
                    <a:pt x="2213460" y="16362"/>
                  </a:cubicBezTo>
                  <a:lnTo>
                    <a:pt x="2213460" y="742753"/>
                  </a:lnTo>
                  <a:cubicBezTo>
                    <a:pt x="2213460" y="747092"/>
                    <a:pt x="2211736" y="751254"/>
                    <a:pt x="2208667" y="754323"/>
                  </a:cubicBezTo>
                  <a:cubicBezTo>
                    <a:pt x="2205599" y="757391"/>
                    <a:pt x="2201437" y="759115"/>
                    <a:pt x="2197097" y="759115"/>
                  </a:cubicBezTo>
                  <a:lnTo>
                    <a:pt x="16362" y="759115"/>
                  </a:lnTo>
                  <a:cubicBezTo>
                    <a:pt x="12023" y="759115"/>
                    <a:pt x="7861" y="757391"/>
                    <a:pt x="4792" y="754323"/>
                  </a:cubicBezTo>
                  <a:cubicBezTo>
                    <a:pt x="1724" y="751254"/>
                    <a:pt x="0" y="747092"/>
                    <a:pt x="0" y="742753"/>
                  </a:cubicBezTo>
                  <a:lnTo>
                    <a:pt x="0" y="16362"/>
                  </a:lnTo>
                  <a:cubicBezTo>
                    <a:pt x="0" y="12023"/>
                    <a:pt x="1724" y="7861"/>
                    <a:pt x="4792" y="4792"/>
                  </a:cubicBezTo>
                  <a:cubicBezTo>
                    <a:pt x="7861" y="1724"/>
                    <a:pt x="12023" y="0"/>
                    <a:pt x="16362" y="0"/>
                  </a:cubicBezTo>
                  <a:close/>
                </a:path>
              </a:pathLst>
            </a:custGeom>
            <a:solidFill>
              <a:srgbClr val="FBF6F1"/>
            </a:solidFill>
            <a:ln cap="sq" cmpd="sng" w="95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" name="Google Shape;324;p43"/>
            <p:cNvSpPr txBox="1"/>
            <p:nvPr/>
          </p:nvSpPr>
          <p:spPr>
            <a:xfrm>
              <a:off x="0" y="-38100"/>
              <a:ext cx="2213400" cy="79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25" name="Google Shape;325;p43"/>
          <p:cNvSpPr txBox="1"/>
          <p:nvPr/>
        </p:nvSpPr>
        <p:spPr>
          <a:xfrm>
            <a:off x="1187125" y="4316888"/>
            <a:ext cx="988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5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rgbClr val="156669"/>
                </a:solidFill>
                <a:latin typeface="Public Sans"/>
                <a:ea typeface="Public Sans"/>
                <a:cs typeface="Public Sans"/>
                <a:sym typeface="Public Sans"/>
              </a:rPr>
              <a:t>04</a:t>
            </a:r>
            <a:endParaRPr sz="700">
              <a:solidFill>
                <a:schemeClr val="dk1"/>
              </a:solidFill>
            </a:endParaRPr>
          </a:p>
        </p:txBody>
      </p:sp>
      <p:sp>
        <p:nvSpPr>
          <p:cNvPr id="326" name="Google Shape;326;p43"/>
          <p:cNvSpPr txBox="1"/>
          <p:nvPr/>
        </p:nvSpPr>
        <p:spPr>
          <a:xfrm>
            <a:off x="2507575" y="4039275"/>
            <a:ext cx="5919600" cy="11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6669"/>
              </a:buClr>
              <a:buSzPts val="1400"/>
              <a:buChar char="●"/>
            </a:pPr>
            <a:r>
              <a:rPr lang="en">
                <a:solidFill>
                  <a:srgbClr val="156669"/>
                </a:solidFill>
              </a:rPr>
              <a:t>Follows HIPAA guidelines </a:t>
            </a:r>
            <a:endParaRPr>
              <a:solidFill>
                <a:srgbClr val="156669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6669"/>
              </a:buClr>
              <a:buSzPts val="1400"/>
              <a:buChar char="●"/>
            </a:pPr>
            <a:r>
              <a:rPr lang="en">
                <a:solidFill>
                  <a:srgbClr val="156669"/>
                </a:solidFill>
              </a:rPr>
              <a:t>Data encryption, backup &amp; recovery</a:t>
            </a:r>
            <a:endParaRPr>
              <a:solidFill>
                <a:srgbClr val="156669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6669"/>
              </a:buClr>
              <a:buSzPts val="1400"/>
              <a:buChar char="●"/>
            </a:pPr>
            <a:r>
              <a:rPr lang="en">
                <a:solidFill>
                  <a:srgbClr val="156669"/>
                </a:solidFill>
              </a:rPr>
              <a:t>Manage and record which staff has access to patient information.</a:t>
            </a:r>
            <a:endParaRPr>
              <a:solidFill>
                <a:srgbClr val="156669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6669"/>
              </a:buClr>
              <a:buSzPts val="1400"/>
              <a:buChar char="●"/>
            </a:pPr>
            <a:r>
              <a:rPr lang="en">
                <a:solidFill>
                  <a:srgbClr val="156669"/>
                </a:solidFill>
              </a:rPr>
              <a:t>Maintain logs of user interactions, data modifications</a:t>
            </a:r>
            <a:endParaRPr>
              <a:solidFill>
                <a:srgbClr val="156669"/>
              </a:solidFill>
            </a:endParaRPr>
          </a:p>
        </p:txBody>
      </p:sp>
      <p:sp>
        <p:nvSpPr>
          <p:cNvPr id="327" name="Google Shape;327;p43"/>
          <p:cNvSpPr txBox="1"/>
          <p:nvPr/>
        </p:nvSpPr>
        <p:spPr>
          <a:xfrm>
            <a:off x="1239175" y="823863"/>
            <a:ext cx="12684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156669"/>
                </a:solidFill>
              </a:rPr>
              <a:t>Operational</a:t>
            </a:r>
            <a:endParaRPr b="1" sz="1500">
              <a:solidFill>
                <a:srgbClr val="156669"/>
              </a:solidFill>
            </a:endParaRPr>
          </a:p>
        </p:txBody>
      </p:sp>
      <p:sp>
        <p:nvSpPr>
          <p:cNvPr id="328" name="Google Shape;328;p43"/>
          <p:cNvSpPr txBox="1"/>
          <p:nvPr/>
        </p:nvSpPr>
        <p:spPr>
          <a:xfrm>
            <a:off x="1187125" y="1827725"/>
            <a:ext cx="13725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156669"/>
                </a:solidFill>
              </a:rPr>
              <a:t>Performance</a:t>
            </a:r>
            <a:endParaRPr b="1" sz="1500">
              <a:solidFill>
                <a:srgbClr val="156669"/>
              </a:solidFill>
            </a:endParaRPr>
          </a:p>
        </p:txBody>
      </p:sp>
      <p:sp>
        <p:nvSpPr>
          <p:cNvPr id="329" name="Google Shape;329;p43"/>
          <p:cNvSpPr txBox="1"/>
          <p:nvPr/>
        </p:nvSpPr>
        <p:spPr>
          <a:xfrm>
            <a:off x="1222552" y="2990150"/>
            <a:ext cx="13725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156669"/>
                </a:solidFill>
              </a:rPr>
              <a:t>Accessibility</a:t>
            </a:r>
            <a:endParaRPr b="1" sz="1500">
              <a:solidFill>
                <a:srgbClr val="156669"/>
              </a:solidFill>
            </a:endParaRPr>
          </a:p>
        </p:txBody>
      </p:sp>
      <p:sp>
        <p:nvSpPr>
          <p:cNvPr id="330" name="Google Shape;330;p43"/>
          <p:cNvSpPr txBox="1"/>
          <p:nvPr/>
        </p:nvSpPr>
        <p:spPr>
          <a:xfrm>
            <a:off x="1223575" y="4054763"/>
            <a:ext cx="11784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156669"/>
                </a:solidFill>
              </a:rPr>
              <a:t>Security</a:t>
            </a:r>
            <a:endParaRPr b="1" sz="1500">
              <a:solidFill>
                <a:srgbClr val="156669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8D2E4"/>
        </a:soli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44"/>
          <p:cNvSpPr txBox="1"/>
          <p:nvPr/>
        </p:nvSpPr>
        <p:spPr>
          <a:xfrm>
            <a:off x="2053956" y="130450"/>
            <a:ext cx="5036100" cy="109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5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400">
                <a:solidFill>
                  <a:srgbClr val="156669"/>
                </a:solidFill>
                <a:latin typeface="Public Sans"/>
                <a:ea typeface="Public Sans"/>
                <a:cs typeface="Public Sans"/>
                <a:sym typeface="Public Sans"/>
              </a:rPr>
              <a:t>Next Steps</a:t>
            </a:r>
            <a:endParaRPr sz="700"/>
          </a:p>
        </p:txBody>
      </p:sp>
      <p:sp>
        <p:nvSpPr>
          <p:cNvPr id="336" name="Google Shape;336;p44"/>
          <p:cNvSpPr txBox="1"/>
          <p:nvPr/>
        </p:nvSpPr>
        <p:spPr>
          <a:xfrm>
            <a:off x="1007913" y="627109"/>
            <a:ext cx="1059900" cy="1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sp>
        <p:nvSpPr>
          <p:cNvPr id="337" name="Google Shape;337;p44"/>
          <p:cNvSpPr txBox="1"/>
          <p:nvPr/>
        </p:nvSpPr>
        <p:spPr>
          <a:xfrm>
            <a:off x="514350" y="4434840"/>
            <a:ext cx="3478200" cy="1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sp>
        <p:nvSpPr>
          <p:cNvPr id="338" name="Google Shape;338;p44"/>
          <p:cNvSpPr/>
          <p:nvPr/>
        </p:nvSpPr>
        <p:spPr>
          <a:xfrm>
            <a:off x="1007925" y="1458777"/>
            <a:ext cx="7016668" cy="3076314"/>
          </a:xfrm>
          <a:custGeom>
            <a:rect b="b" l="l" r="r" t="t"/>
            <a:pathLst>
              <a:path extrusionOk="0" h="759115" w="2213460">
                <a:moveTo>
                  <a:pt x="16362" y="0"/>
                </a:moveTo>
                <a:lnTo>
                  <a:pt x="2197097" y="0"/>
                </a:lnTo>
                <a:cubicBezTo>
                  <a:pt x="2201437" y="0"/>
                  <a:pt x="2205599" y="1724"/>
                  <a:pt x="2208667" y="4792"/>
                </a:cubicBezTo>
                <a:cubicBezTo>
                  <a:pt x="2211736" y="7861"/>
                  <a:pt x="2213460" y="12023"/>
                  <a:pt x="2213460" y="16362"/>
                </a:cubicBezTo>
                <a:lnTo>
                  <a:pt x="2213460" y="742753"/>
                </a:lnTo>
                <a:cubicBezTo>
                  <a:pt x="2213460" y="747092"/>
                  <a:pt x="2211736" y="751254"/>
                  <a:pt x="2208667" y="754323"/>
                </a:cubicBezTo>
                <a:cubicBezTo>
                  <a:pt x="2205599" y="757391"/>
                  <a:pt x="2201437" y="759115"/>
                  <a:pt x="2197097" y="759115"/>
                </a:cubicBezTo>
                <a:lnTo>
                  <a:pt x="16362" y="759115"/>
                </a:lnTo>
                <a:cubicBezTo>
                  <a:pt x="12023" y="759115"/>
                  <a:pt x="7861" y="757391"/>
                  <a:pt x="4792" y="754323"/>
                </a:cubicBezTo>
                <a:cubicBezTo>
                  <a:pt x="1724" y="751254"/>
                  <a:pt x="0" y="747092"/>
                  <a:pt x="0" y="742753"/>
                </a:cubicBezTo>
                <a:lnTo>
                  <a:pt x="0" y="16362"/>
                </a:lnTo>
                <a:cubicBezTo>
                  <a:pt x="0" y="12023"/>
                  <a:pt x="1724" y="7861"/>
                  <a:pt x="4792" y="4792"/>
                </a:cubicBezTo>
                <a:cubicBezTo>
                  <a:pt x="7861" y="1724"/>
                  <a:pt x="12023" y="0"/>
                  <a:pt x="16362" y="0"/>
                </a:cubicBezTo>
                <a:close/>
              </a:path>
            </a:pathLst>
          </a:custGeom>
          <a:solidFill>
            <a:srgbClr val="FBF6F1"/>
          </a:solidFill>
          <a:ln cap="sq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lnSpc>
                <a:spcPct val="95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44"/>
          <p:cNvSpPr txBox="1"/>
          <p:nvPr/>
        </p:nvSpPr>
        <p:spPr>
          <a:xfrm>
            <a:off x="1069375" y="1493650"/>
            <a:ext cx="6921900" cy="306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156669"/>
                </a:solidFill>
                <a:latin typeface="Calibri"/>
                <a:ea typeface="Calibri"/>
                <a:cs typeface="Calibri"/>
                <a:sym typeface="Calibri"/>
              </a:rPr>
              <a:t>How to Implement These Proposals:</a:t>
            </a:r>
            <a:endParaRPr b="1" sz="2400">
              <a:solidFill>
                <a:srgbClr val="15666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15666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156669"/>
              </a:buClr>
              <a:buSzPts val="2000"/>
              <a:buFont typeface="Calibri"/>
              <a:buChar char="●"/>
            </a:pPr>
            <a:r>
              <a:rPr lang="en" sz="2000">
                <a:solidFill>
                  <a:srgbClr val="156669"/>
                </a:solidFill>
                <a:latin typeface="Calibri"/>
                <a:ea typeface="Calibri"/>
                <a:cs typeface="Calibri"/>
                <a:sym typeface="Calibri"/>
              </a:rPr>
              <a:t>Ownership of Google Form and Spreadsheet for survey will be transferred to hospital staff (or anyone assigned to the role)</a:t>
            </a:r>
            <a:endParaRPr sz="2000">
              <a:solidFill>
                <a:srgbClr val="15666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156669"/>
              </a:buClr>
              <a:buSzPts val="2000"/>
              <a:buFont typeface="Calibri"/>
              <a:buChar char="●"/>
            </a:pPr>
            <a:r>
              <a:rPr lang="en" sz="2000">
                <a:solidFill>
                  <a:srgbClr val="156669"/>
                </a:solidFill>
                <a:latin typeface="Calibri"/>
                <a:ea typeface="Calibri"/>
                <a:cs typeface="Calibri"/>
                <a:sym typeface="Calibri"/>
              </a:rPr>
              <a:t>Raffle Advertisement will be available to send to patients and display at hospital</a:t>
            </a:r>
            <a:endParaRPr sz="2000">
              <a:solidFill>
                <a:srgbClr val="15666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156669"/>
              </a:buClr>
              <a:buSzPts val="2000"/>
              <a:buFont typeface="Calibri"/>
              <a:buChar char="●"/>
            </a:pPr>
            <a:r>
              <a:rPr lang="en" sz="2000">
                <a:solidFill>
                  <a:srgbClr val="156669"/>
                </a:solidFill>
                <a:latin typeface="Calibri"/>
                <a:ea typeface="Calibri"/>
                <a:cs typeface="Calibri"/>
                <a:sym typeface="Calibri"/>
              </a:rPr>
              <a:t>Implement changes to current appointment reminder and cancellation systems</a:t>
            </a:r>
            <a:endParaRPr sz="2000">
              <a:solidFill>
                <a:srgbClr val="15666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8D2E4"/>
        </a:solidFill>
      </p:bgPr>
    </p:bg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4" name="Google Shape;344;p45"/>
          <p:cNvGrpSpPr/>
          <p:nvPr/>
        </p:nvGrpSpPr>
        <p:grpSpPr>
          <a:xfrm>
            <a:off x="4572000" y="96863"/>
            <a:ext cx="4420952" cy="4895526"/>
            <a:chOff x="0" y="-28575"/>
            <a:chExt cx="2328732" cy="2578714"/>
          </a:xfrm>
        </p:grpSpPr>
        <p:sp>
          <p:nvSpPr>
            <p:cNvPr id="345" name="Google Shape;345;p45"/>
            <p:cNvSpPr/>
            <p:nvPr/>
          </p:nvSpPr>
          <p:spPr>
            <a:xfrm>
              <a:off x="0" y="0"/>
              <a:ext cx="2328732" cy="2550139"/>
            </a:xfrm>
            <a:custGeom>
              <a:rect b="b" l="l" r="r" t="t"/>
              <a:pathLst>
                <a:path extrusionOk="0" h="2550139" w="2328732">
                  <a:moveTo>
                    <a:pt x="0" y="0"/>
                  </a:moveTo>
                  <a:lnTo>
                    <a:pt x="2328732" y="0"/>
                  </a:lnTo>
                  <a:lnTo>
                    <a:pt x="2328732" y="2550139"/>
                  </a:lnTo>
                  <a:lnTo>
                    <a:pt x="0" y="2550139"/>
                  </a:lnTo>
                  <a:close/>
                </a:path>
              </a:pathLst>
            </a:custGeom>
            <a:solidFill>
              <a:srgbClr val="FBF6F1"/>
            </a:solidFill>
            <a:ln>
              <a:noFill/>
            </a:ln>
          </p:spPr>
        </p:sp>
        <p:sp>
          <p:nvSpPr>
            <p:cNvPr id="346" name="Google Shape;346;p45"/>
            <p:cNvSpPr txBox="1"/>
            <p:nvPr/>
          </p:nvSpPr>
          <p:spPr>
            <a:xfrm>
              <a:off x="0" y="-28575"/>
              <a:ext cx="2328732" cy="257871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08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47" name="Google Shape;347;p45"/>
          <p:cNvSpPr/>
          <p:nvPr/>
        </p:nvSpPr>
        <p:spPr>
          <a:xfrm>
            <a:off x="514350" y="514350"/>
            <a:ext cx="364003" cy="386490"/>
          </a:xfrm>
          <a:custGeom>
            <a:rect b="b" l="l" r="r" t="t"/>
            <a:pathLst>
              <a:path extrusionOk="0" h="772980" w="728006">
                <a:moveTo>
                  <a:pt x="0" y="0"/>
                </a:moveTo>
                <a:lnTo>
                  <a:pt x="728006" y="0"/>
                </a:lnTo>
                <a:lnTo>
                  <a:pt x="728006" y="772980"/>
                </a:lnTo>
                <a:lnTo>
                  <a:pt x="0" y="7729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48" name="Google Shape;348;p45"/>
          <p:cNvSpPr/>
          <p:nvPr/>
        </p:nvSpPr>
        <p:spPr>
          <a:xfrm>
            <a:off x="5055704" y="873233"/>
            <a:ext cx="3453546" cy="3397032"/>
          </a:xfrm>
          <a:custGeom>
            <a:rect b="b" l="l" r="r" t="t"/>
            <a:pathLst>
              <a:path extrusionOk="0" h="6794065" w="6907091">
                <a:moveTo>
                  <a:pt x="0" y="0"/>
                </a:moveTo>
                <a:lnTo>
                  <a:pt x="6907090" y="0"/>
                </a:lnTo>
                <a:lnTo>
                  <a:pt x="6907090" y="6794066"/>
                </a:lnTo>
                <a:lnTo>
                  <a:pt x="0" y="67940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49" name="Google Shape;349;p45"/>
          <p:cNvSpPr txBox="1"/>
          <p:nvPr/>
        </p:nvSpPr>
        <p:spPr>
          <a:xfrm>
            <a:off x="514338" y="1451241"/>
            <a:ext cx="3478200" cy="21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5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400" u="none" cap="none" strike="noStrike">
                <a:solidFill>
                  <a:srgbClr val="156669"/>
                </a:solidFill>
                <a:latin typeface="Public Sans"/>
                <a:ea typeface="Public Sans"/>
                <a:cs typeface="Public Sans"/>
                <a:sym typeface="Public Sans"/>
              </a:rPr>
              <a:t>Thank</a:t>
            </a:r>
            <a:r>
              <a:rPr lang="en" sz="7400">
                <a:solidFill>
                  <a:srgbClr val="156669"/>
                </a:solidFill>
                <a:latin typeface="Public Sans"/>
                <a:ea typeface="Public Sans"/>
                <a:cs typeface="Public Sans"/>
                <a:sym typeface="Public Sans"/>
              </a:rPr>
              <a:t> You</a:t>
            </a:r>
            <a:r>
              <a:rPr b="0" i="0" lang="en" sz="7400" u="none" cap="none" strike="noStrike">
                <a:solidFill>
                  <a:srgbClr val="156669"/>
                </a:solidFill>
                <a:latin typeface="Public Sans"/>
                <a:ea typeface="Public Sans"/>
                <a:cs typeface="Public Sans"/>
                <a:sym typeface="Public Sans"/>
              </a:rPr>
              <a:t>!</a:t>
            </a:r>
            <a:endParaRPr sz="700"/>
          </a:p>
        </p:txBody>
      </p:sp>
      <p:sp>
        <p:nvSpPr>
          <p:cNvPr id="350" name="Google Shape;350;p45"/>
          <p:cNvSpPr txBox="1"/>
          <p:nvPr/>
        </p:nvSpPr>
        <p:spPr>
          <a:xfrm>
            <a:off x="1007913" y="627109"/>
            <a:ext cx="1059900" cy="1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sp>
        <p:nvSpPr>
          <p:cNvPr id="351" name="Google Shape;351;p45"/>
          <p:cNvSpPr txBox="1"/>
          <p:nvPr/>
        </p:nvSpPr>
        <p:spPr>
          <a:xfrm>
            <a:off x="514350" y="4434840"/>
            <a:ext cx="3478200" cy="1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